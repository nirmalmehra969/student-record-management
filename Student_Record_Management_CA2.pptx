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42550-993B-8BDA-8922-40313932624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560AFE2-7A78-6A8C-E1CA-11544BDDA7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5EFB5CD-D70A-39D6-5D9F-7636EAF5442C}"/>
              </a:ext>
            </a:extLst>
          </p:cNvPr>
          <p:cNvSpPr>
            <a:spLocks noGrp="1"/>
          </p:cNvSpPr>
          <p:nvPr>
            <p:ph type="dt" sz="half" idx="10"/>
          </p:nvPr>
        </p:nvSpPr>
        <p:spPr/>
        <p:txBody>
          <a:bodyPr/>
          <a:lstStyle/>
          <a:p>
            <a:fld id="{EAC5F54F-36F6-4AF9-BBFA-32E12F763324}" type="datetimeFigureOut">
              <a:rPr lang="en-IN" smtClean="0"/>
              <a:t>14-10-2026</a:t>
            </a:fld>
            <a:endParaRPr lang="en-IN"/>
          </a:p>
        </p:txBody>
      </p:sp>
      <p:sp>
        <p:nvSpPr>
          <p:cNvPr id="5" name="Footer Placeholder 4">
            <a:extLst>
              <a:ext uri="{FF2B5EF4-FFF2-40B4-BE49-F238E27FC236}">
                <a16:creationId xmlns:a16="http://schemas.microsoft.com/office/drawing/2014/main" id="{5E33C9D7-D8F9-5E84-94C3-A6629945BA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93A647-BCE9-260B-1EF2-84747E261663}"/>
              </a:ext>
            </a:extLst>
          </p:cNvPr>
          <p:cNvSpPr>
            <a:spLocks noGrp="1"/>
          </p:cNvSpPr>
          <p:nvPr>
            <p:ph type="sldNum" sz="quarter" idx="12"/>
          </p:nvPr>
        </p:nvSpPr>
        <p:spPr/>
        <p:txBody>
          <a:bodyPr/>
          <a:lstStyle/>
          <a:p>
            <a:fld id="{9FDC8A2F-3984-41D1-B1A5-CB53198B919F}" type="slidenum">
              <a:rPr lang="en-IN" smtClean="0"/>
              <a:t>‹#›</a:t>
            </a:fld>
            <a:endParaRPr lang="en-IN"/>
          </a:p>
        </p:txBody>
      </p:sp>
    </p:spTree>
    <p:extLst>
      <p:ext uri="{BB962C8B-B14F-4D97-AF65-F5344CB8AC3E}">
        <p14:creationId xmlns:p14="http://schemas.microsoft.com/office/powerpoint/2010/main" val="4209016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A3831-00F0-9243-30AB-871893ADAB5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1EAB090-CC56-8912-3F4A-85E674B1C3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B22584-14DA-5305-C67C-D8379F65C5C0}"/>
              </a:ext>
            </a:extLst>
          </p:cNvPr>
          <p:cNvSpPr>
            <a:spLocks noGrp="1"/>
          </p:cNvSpPr>
          <p:nvPr>
            <p:ph type="dt" sz="half" idx="10"/>
          </p:nvPr>
        </p:nvSpPr>
        <p:spPr/>
        <p:txBody>
          <a:bodyPr/>
          <a:lstStyle/>
          <a:p>
            <a:fld id="{EAC5F54F-36F6-4AF9-BBFA-32E12F763324}" type="datetimeFigureOut">
              <a:rPr lang="en-IN" smtClean="0"/>
              <a:t>14-10-2026</a:t>
            </a:fld>
            <a:endParaRPr lang="en-IN"/>
          </a:p>
        </p:txBody>
      </p:sp>
      <p:sp>
        <p:nvSpPr>
          <p:cNvPr id="5" name="Footer Placeholder 4">
            <a:extLst>
              <a:ext uri="{FF2B5EF4-FFF2-40B4-BE49-F238E27FC236}">
                <a16:creationId xmlns:a16="http://schemas.microsoft.com/office/drawing/2014/main" id="{27D84487-84A4-95DA-FF35-12E4AA532C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FA96E5-0F61-CFD8-044F-E3C23703B778}"/>
              </a:ext>
            </a:extLst>
          </p:cNvPr>
          <p:cNvSpPr>
            <a:spLocks noGrp="1"/>
          </p:cNvSpPr>
          <p:nvPr>
            <p:ph type="sldNum" sz="quarter" idx="12"/>
          </p:nvPr>
        </p:nvSpPr>
        <p:spPr/>
        <p:txBody>
          <a:bodyPr/>
          <a:lstStyle/>
          <a:p>
            <a:fld id="{9FDC8A2F-3984-41D1-B1A5-CB53198B919F}" type="slidenum">
              <a:rPr lang="en-IN" smtClean="0"/>
              <a:t>‹#›</a:t>
            </a:fld>
            <a:endParaRPr lang="en-IN"/>
          </a:p>
        </p:txBody>
      </p:sp>
    </p:spTree>
    <p:extLst>
      <p:ext uri="{BB962C8B-B14F-4D97-AF65-F5344CB8AC3E}">
        <p14:creationId xmlns:p14="http://schemas.microsoft.com/office/powerpoint/2010/main" val="2587118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54A60-C55C-89E7-0D1C-4007F43619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59E7258-DB5B-EA30-8FA4-B5CD67411C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4D9897-C728-4304-17C0-3457DECA2231}"/>
              </a:ext>
            </a:extLst>
          </p:cNvPr>
          <p:cNvSpPr>
            <a:spLocks noGrp="1"/>
          </p:cNvSpPr>
          <p:nvPr>
            <p:ph type="dt" sz="half" idx="10"/>
          </p:nvPr>
        </p:nvSpPr>
        <p:spPr/>
        <p:txBody>
          <a:bodyPr/>
          <a:lstStyle/>
          <a:p>
            <a:fld id="{EAC5F54F-36F6-4AF9-BBFA-32E12F763324}" type="datetimeFigureOut">
              <a:rPr lang="en-IN" smtClean="0"/>
              <a:t>14-10-2026</a:t>
            </a:fld>
            <a:endParaRPr lang="en-IN"/>
          </a:p>
        </p:txBody>
      </p:sp>
      <p:sp>
        <p:nvSpPr>
          <p:cNvPr id="5" name="Footer Placeholder 4">
            <a:extLst>
              <a:ext uri="{FF2B5EF4-FFF2-40B4-BE49-F238E27FC236}">
                <a16:creationId xmlns:a16="http://schemas.microsoft.com/office/drawing/2014/main" id="{B33E671B-10F8-3EB2-C35D-FFC5BB148F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D5CFCB-E359-A339-CC57-0FEB5DBF5532}"/>
              </a:ext>
            </a:extLst>
          </p:cNvPr>
          <p:cNvSpPr>
            <a:spLocks noGrp="1"/>
          </p:cNvSpPr>
          <p:nvPr>
            <p:ph type="sldNum" sz="quarter" idx="12"/>
          </p:nvPr>
        </p:nvSpPr>
        <p:spPr/>
        <p:txBody>
          <a:bodyPr/>
          <a:lstStyle/>
          <a:p>
            <a:fld id="{9FDC8A2F-3984-41D1-B1A5-CB53198B919F}" type="slidenum">
              <a:rPr lang="en-IN" smtClean="0"/>
              <a:t>‹#›</a:t>
            </a:fld>
            <a:endParaRPr lang="en-IN"/>
          </a:p>
        </p:txBody>
      </p:sp>
    </p:spTree>
    <p:extLst>
      <p:ext uri="{BB962C8B-B14F-4D97-AF65-F5344CB8AC3E}">
        <p14:creationId xmlns:p14="http://schemas.microsoft.com/office/powerpoint/2010/main" val="2020775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51FD6-9CEF-8548-94C3-CAF8D2B6572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D0D5C67-22FA-633D-3930-640B058FA2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5A9EA13-BC02-3848-C279-F5F07957BA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171A253-8B14-94C8-4002-B64FE78DCAB0}"/>
              </a:ext>
            </a:extLst>
          </p:cNvPr>
          <p:cNvSpPr>
            <a:spLocks noGrp="1"/>
          </p:cNvSpPr>
          <p:nvPr>
            <p:ph type="dt" sz="half" idx="10"/>
          </p:nvPr>
        </p:nvSpPr>
        <p:spPr/>
        <p:txBody>
          <a:bodyPr/>
          <a:lstStyle/>
          <a:p>
            <a:fld id="{EAC5F54F-36F6-4AF9-BBFA-32E12F763324}" type="datetimeFigureOut">
              <a:rPr lang="en-IN" smtClean="0"/>
              <a:t>14-10-2026</a:t>
            </a:fld>
            <a:endParaRPr lang="en-IN"/>
          </a:p>
        </p:txBody>
      </p:sp>
      <p:sp>
        <p:nvSpPr>
          <p:cNvPr id="6" name="Footer Placeholder 5">
            <a:extLst>
              <a:ext uri="{FF2B5EF4-FFF2-40B4-BE49-F238E27FC236}">
                <a16:creationId xmlns:a16="http://schemas.microsoft.com/office/drawing/2014/main" id="{F5A93473-1335-C938-D821-81F996DE0A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B5D59A-7255-ADEC-0FF8-FB93987F9749}"/>
              </a:ext>
            </a:extLst>
          </p:cNvPr>
          <p:cNvSpPr>
            <a:spLocks noGrp="1"/>
          </p:cNvSpPr>
          <p:nvPr>
            <p:ph type="sldNum" sz="quarter" idx="12"/>
          </p:nvPr>
        </p:nvSpPr>
        <p:spPr/>
        <p:txBody>
          <a:bodyPr/>
          <a:lstStyle/>
          <a:p>
            <a:fld id="{9FDC8A2F-3984-41D1-B1A5-CB53198B919F}" type="slidenum">
              <a:rPr lang="en-IN" smtClean="0"/>
              <a:t>‹#›</a:t>
            </a:fld>
            <a:endParaRPr lang="en-IN"/>
          </a:p>
        </p:txBody>
      </p:sp>
    </p:spTree>
    <p:extLst>
      <p:ext uri="{BB962C8B-B14F-4D97-AF65-F5344CB8AC3E}">
        <p14:creationId xmlns:p14="http://schemas.microsoft.com/office/powerpoint/2010/main" val="3626589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C6B6B-2952-C6B8-DD9A-E1005287E2D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02D26D9-0CD5-2FC2-031D-C867D5705B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71111C-3CF0-2266-47E6-E39F3267EE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AB6FB7A-BB53-424E-B3E5-D67FB99D8D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CAD2D4-B34A-684C-3CC7-4718F2DC80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28A7B34-B3E7-D169-5719-2963B200B0E5}"/>
              </a:ext>
            </a:extLst>
          </p:cNvPr>
          <p:cNvSpPr>
            <a:spLocks noGrp="1"/>
          </p:cNvSpPr>
          <p:nvPr>
            <p:ph type="dt" sz="half" idx="10"/>
          </p:nvPr>
        </p:nvSpPr>
        <p:spPr/>
        <p:txBody>
          <a:bodyPr/>
          <a:lstStyle/>
          <a:p>
            <a:fld id="{EAC5F54F-36F6-4AF9-BBFA-32E12F763324}" type="datetimeFigureOut">
              <a:rPr lang="en-IN" smtClean="0"/>
              <a:t>14-10-2026</a:t>
            </a:fld>
            <a:endParaRPr lang="en-IN"/>
          </a:p>
        </p:txBody>
      </p:sp>
      <p:sp>
        <p:nvSpPr>
          <p:cNvPr id="8" name="Footer Placeholder 7">
            <a:extLst>
              <a:ext uri="{FF2B5EF4-FFF2-40B4-BE49-F238E27FC236}">
                <a16:creationId xmlns:a16="http://schemas.microsoft.com/office/drawing/2014/main" id="{1D3FCD1C-1354-C799-844B-6D17AF3CFFD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A124DA2-F2E0-EF2E-790F-8E681E4807C3}"/>
              </a:ext>
            </a:extLst>
          </p:cNvPr>
          <p:cNvSpPr>
            <a:spLocks noGrp="1"/>
          </p:cNvSpPr>
          <p:nvPr>
            <p:ph type="sldNum" sz="quarter" idx="12"/>
          </p:nvPr>
        </p:nvSpPr>
        <p:spPr/>
        <p:txBody>
          <a:bodyPr/>
          <a:lstStyle/>
          <a:p>
            <a:fld id="{9FDC8A2F-3984-41D1-B1A5-CB53198B919F}" type="slidenum">
              <a:rPr lang="en-IN" smtClean="0"/>
              <a:t>‹#›</a:t>
            </a:fld>
            <a:endParaRPr lang="en-IN"/>
          </a:p>
        </p:txBody>
      </p:sp>
    </p:spTree>
    <p:extLst>
      <p:ext uri="{BB962C8B-B14F-4D97-AF65-F5344CB8AC3E}">
        <p14:creationId xmlns:p14="http://schemas.microsoft.com/office/powerpoint/2010/main" val="3473760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F3902-7828-0AAE-ABA3-FF8240BDC75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BDC23D7-34C8-447D-DDC6-60DE1CC871AA}"/>
              </a:ext>
            </a:extLst>
          </p:cNvPr>
          <p:cNvSpPr>
            <a:spLocks noGrp="1"/>
          </p:cNvSpPr>
          <p:nvPr>
            <p:ph type="dt" sz="half" idx="10"/>
          </p:nvPr>
        </p:nvSpPr>
        <p:spPr/>
        <p:txBody>
          <a:bodyPr/>
          <a:lstStyle/>
          <a:p>
            <a:fld id="{EAC5F54F-36F6-4AF9-BBFA-32E12F763324}" type="datetimeFigureOut">
              <a:rPr lang="en-IN" smtClean="0"/>
              <a:t>14-10-2026</a:t>
            </a:fld>
            <a:endParaRPr lang="en-IN"/>
          </a:p>
        </p:txBody>
      </p:sp>
      <p:sp>
        <p:nvSpPr>
          <p:cNvPr id="4" name="Footer Placeholder 3">
            <a:extLst>
              <a:ext uri="{FF2B5EF4-FFF2-40B4-BE49-F238E27FC236}">
                <a16:creationId xmlns:a16="http://schemas.microsoft.com/office/drawing/2014/main" id="{D836736C-4FB4-FEEE-737A-F1313E084B8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F7D172C-7010-282B-19D0-077D9C39B20E}"/>
              </a:ext>
            </a:extLst>
          </p:cNvPr>
          <p:cNvSpPr>
            <a:spLocks noGrp="1"/>
          </p:cNvSpPr>
          <p:nvPr>
            <p:ph type="sldNum" sz="quarter" idx="12"/>
          </p:nvPr>
        </p:nvSpPr>
        <p:spPr/>
        <p:txBody>
          <a:bodyPr/>
          <a:lstStyle/>
          <a:p>
            <a:fld id="{9FDC8A2F-3984-41D1-B1A5-CB53198B919F}" type="slidenum">
              <a:rPr lang="en-IN" smtClean="0"/>
              <a:t>‹#›</a:t>
            </a:fld>
            <a:endParaRPr lang="en-IN"/>
          </a:p>
        </p:txBody>
      </p:sp>
    </p:spTree>
    <p:extLst>
      <p:ext uri="{BB962C8B-B14F-4D97-AF65-F5344CB8AC3E}">
        <p14:creationId xmlns:p14="http://schemas.microsoft.com/office/powerpoint/2010/main" val="1702310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276AEF-899A-24BD-F0B0-9A6197F97AA8}"/>
              </a:ext>
            </a:extLst>
          </p:cNvPr>
          <p:cNvSpPr>
            <a:spLocks noGrp="1"/>
          </p:cNvSpPr>
          <p:nvPr>
            <p:ph type="dt" sz="half" idx="10"/>
          </p:nvPr>
        </p:nvSpPr>
        <p:spPr/>
        <p:txBody>
          <a:bodyPr/>
          <a:lstStyle/>
          <a:p>
            <a:fld id="{EAC5F54F-36F6-4AF9-BBFA-32E12F763324}" type="datetimeFigureOut">
              <a:rPr lang="en-IN" smtClean="0"/>
              <a:t>14-10-2026</a:t>
            </a:fld>
            <a:endParaRPr lang="en-IN"/>
          </a:p>
        </p:txBody>
      </p:sp>
      <p:sp>
        <p:nvSpPr>
          <p:cNvPr id="3" name="Footer Placeholder 2">
            <a:extLst>
              <a:ext uri="{FF2B5EF4-FFF2-40B4-BE49-F238E27FC236}">
                <a16:creationId xmlns:a16="http://schemas.microsoft.com/office/drawing/2014/main" id="{4C24F219-B5DC-6E98-703A-A072969D28C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D6F4747-F8F2-BC15-2920-4FEA85360622}"/>
              </a:ext>
            </a:extLst>
          </p:cNvPr>
          <p:cNvSpPr>
            <a:spLocks noGrp="1"/>
          </p:cNvSpPr>
          <p:nvPr>
            <p:ph type="sldNum" sz="quarter" idx="12"/>
          </p:nvPr>
        </p:nvSpPr>
        <p:spPr/>
        <p:txBody>
          <a:bodyPr/>
          <a:lstStyle/>
          <a:p>
            <a:fld id="{9FDC8A2F-3984-41D1-B1A5-CB53198B919F}" type="slidenum">
              <a:rPr lang="en-IN" smtClean="0"/>
              <a:t>‹#›</a:t>
            </a:fld>
            <a:endParaRPr lang="en-IN"/>
          </a:p>
        </p:txBody>
      </p:sp>
    </p:spTree>
    <p:extLst>
      <p:ext uri="{BB962C8B-B14F-4D97-AF65-F5344CB8AC3E}">
        <p14:creationId xmlns:p14="http://schemas.microsoft.com/office/powerpoint/2010/main" val="295473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B77B6-AE12-E59A-1262-B58883F63C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A199C0F-B7FF-83D6-10AF-998BD0B96F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6F99B96-5D9E-9FC6-44B4-D396D35B7A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6F2405-CBFB-B9ED-3EFB-EBB50EE88D63}"/>
              </a:ext>
            </a:extLst>
          </p:cNvPr>
          <p:cNvSpPr>
            <a:spLocks noGrp="1"/>
          </p:cNvSpPr>
          <p:nvPr>
            <p:ph type="dt" sz="half" idx="10"/>
          </p:nvPr>
        </p:nvSpPr>
        <p:spPr/>
        <p:txBody>
          <a:bodyPr/>
          <a:lstStyle/>
          <a:p>
            <a:fld id="{EAC5F54F-36F6-4AF9-BBFA-32E12F763324}" type="datetimeFigureOut">
              <a:rPr lang="en-IN" smtClean="0"/>
              <a:t>14-10-2026</a:t>
            </a:fld>
            <a:endParaRPr lang="en-IN"/>
          </a:p>
        </p:txBody>
      </p:sp>
      <p:sp>
        <p:nvSpPr>
          <p:cNvPr id="6" name="Footer Placeholder 5">
            <a:extLst>
              <a:ext uri="{FF2B5EF4-FFF2-40B4-BE49-F238E27FC236}">
                <a16:creationId xmlns:a16="http://schemas.microsoft.com/office/drawing/2014/main" id="{552ABBEA-5BEB-338A-48DF-73EDE69275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DEC97FE-3010-F5F1-2563-31C5E3360C18}"/>
              </a:ext>
            </a:extLst>
          </p:cNvPr>
          <p:cNvSpPr>
            <a:spLocks noGrp="1"/>
          </p:cNvSpPr>
          <p:nvPr>
            <p:ph type="sldNum" sz="quarter" idx="12"/>
          </p:nvPr>
        </p:nvSpPr>
        <p:spPr/>
        <p:txBody>
          <a:bodyPr/>
          <a:lstStyle/>
          <a:p>
            <a:fld id="{9FDC8A2F-3984-41D1-B1A5-CB53198B919F}" type="slidenum">
              <a:rPr lang="en-IN" smtClean="0"/>
              <a:t>‹#›</a:t>
            </a:fld>
            <a:endParaRPr lang="en-IN"/>
          </a:p>
        </p:txBody>
      </p:sp>
    </p:spTree>
    <p:extLst>
      <p:ext uri="{BB962C8B-B14F-4D97-AF65-F5344CB8AC3E}">
        <p14:creationId xmlns:p14="http://schemas.microsoft.com/office/powerpoint/2010/main" val="3861659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FF1B5-DCC4-C671-03D0-E22D1D5218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0A4D20-700A-76B7-D83E-7ACB7533189C}"/>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E81ABF9-5319-74F0-23E9-05A9F47E77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005CDB-3D56-B954-8A9E-071F27530479}"/>
              </a:ext>
            </a:extLst>
          </p:cNvPr>
          <p:cNvSpPr>
            <a:spLocks noGrp="1"/>
          </p:cNvSpPr>
          <p:nvPr>
            <p:ph type="dt" sz="half" idx="10"/>
          </p:nvPr>
        </p:nvSpPr>
        <p:spPr/>
        <p:txBody>
          <a:bodyPr/>
          <a:lstStyle/>
          <a:p>
            <a:fld id="{EAC5F54F-36F6-4AF9-BBFA-32E12F763324}" type="datetimeFigureOut">
              <a:rPr lang="en-IN" smtClean="0"/>
              <a:t>14-10-2026</a:t>
            </a:fld>
            <a:endParaRPr lang="en-IN"/>
          </a:p>
        </p:txBody>
      </p:sp>
      <p:sp>
        <p:nvSpPr>
          <p:cNvPr id="6" name="Footer Placeholder 5">
            <a:extLst>
              <a:ext uri="{FF2B5EF4-FFF2-40B4-BE49-F238E27FC236}">
                <a16:creationId xmlns:a16="http://schemas.microsoft.com/office/drawing/2014/main" id="{A9E13B4A-0A49-CF79-804F-4052D3B194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3E5212-DFDD-F2E4-E529-4340B67B8F7C}"/>
              </a:ext>
            </a:extLst>
          </p:cNvPr>
          <p:cNvSpPr>
            <a:spLocks noGrp="1"/>
          </p:cNvSpPr>
          <p:nvPr>
            <p:ph type="sldNum" sz="quarter" idx="12"/>
          </p:nvPr>
        </p:nvSpPr>
        <p:spPr/>
        <p:txBody>
          <a:bodyPr/>
          <a:lstStyle/>
          <a:p>
            <a:fld id="{9FDC8A2F-3984-41D1-B1A5-CB53198B919F}" type="slidenum">
              <a:rPr lang="en-IN" smtClean="0"/>
              <a:t>‹#›</a:t>
            </a:fld>
            <a:endParaRPr lang="en-IN"/>
          </a:p>
        </p:txBody>
      </p:sp>
    </p:spTree>
    <p:extLst>
      <p:ext uri="{BB962C8B-B14F-4D97-AF65-F5344CB8AC3E}">
        <p14:creationId xmlns:p14="http://schemas.microsoft.com/office/powerpoint/2010/main" val="22601641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12F8E-0912-BE9F-1C2F-D3BA37D466E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737D4C6-AA3F-D76C-A8D1-4B91EA8A6A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45F598-BCB2-6B0B-839F-478B4EA3B8EA}"/>
              </a:ext>
            </a:extLst>
          </p:cNvPr>
          <p:cNvSpPr>
            <a:spLocks noGrp="1"/>
          </p:cNvSpPr>
          <p:nvPr>
            <p:ph type="dt" sz="half" idx="10"/>
          </p:nvPr>
        </p:nvSpPr>
        <p:spPr/>
        <p:txBody>
          <a:bodyPr/>
          <a:lstStyle/>
          <a:p>
            <a:fld id="{EAC5F54F-36F6-4AF9-BBFA-32E12F763324}" type="datetimeFigureOut">
              <a:rPr lang="en-IN" smtClean="0"/>
              <a:t>14-10-2026</a:t>
            </a:fld>
            <a:endParaRPr lang="en-IN"/>
          </a:p>
        </p:txBody>
      </p:sp>
      <p:sp>
        <p:nvSpPr>
          <p:cNvPr id="5" name="Footer Placeholder 4">
            <a:extLst>
              <a:ext uri="{FF2B5EF4-FFF2-40B4-BE49-F238E27FC236}">
                <a16:creationId xmlns:a16="http://schemas.microsoft.com/office/drawing/2014/main" id="{2AC4A5EC-BAC9-33AB-D4F9-48B165D967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4D6E87-A0F9-5CE1-7060-38DAE89208AD}"/>
              </a:ext>
            </a:extLst>
          </p:cNvPr>
          <p:cNvSpPr>
            <a:spLocks noGrp="1"/>
          </p:cNvSpPr>
          <p:nvPr>
            <p:ph type="sldNum" sz="quarter" idx="12"/>
          </p:nvPr>
        </p:nvSpPr>
        <p:spPr/>
        <p:txBody>
          <a:bodyPr/>
          <a:lstStyle/>
          <a:p>
            <a:fld id="{9FDC8A2F-3984-41D1-B1A5-CB53198B919F}" type="slidenum">
              <a:rPr lang="en-IN" smtClean="0"/>
              <a:t>‹#›</a:t>
            </a:fld>
            <a:endParaRPr lang="en-IN"/>
          </a:p>
        </p:txBody>
      </p:sp>
    </p:spTree>
    <p:extLst>
      <p:ext uri="{BB962C8B-B14F-4D97-AF65-F5344CB8AC3E}">
        <p14:creationId xmlns:p14="http://schemas.microsoft.com/office/powerpoint/2010/main" val="212325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14E1EC8-68C7-BA29-D828-60AC1BE1824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D3F0A5E-5CA5-BA35-A16C-09A99E2173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EDD381-A37B-1E2A-1B44-B57DA13FA4A7}"/>
              </a:ext>
            </a:extLst>
          </p:cNvPr>
          <p:cNvSpPr>
            <a:spLocks noGrp="1"/>
          </p:cNvSpPr>
          <p:nvPr>
            <p:ph type="dt" sz="half" idx="10"/>
          </p:nvPr>
        </p:nvSpPr>
        <p:spPr/>
        <p:txBody>
          <a:bodyPr/>
          <a:lstStyle/>
          <a:p>
            <a:fld id="{EAC5F54F-36F6-4AF9-BBFA-32E12F763324}" type="datetimeFigureOut">
              <a:rPr lang="en-IN" smtClean="0"/>
              <a:t>14-10-2026</a:t>
            </a:fld>
            <a:endParaRPr lang="en-IN"/>
          </a:p>
        </p:txBody>
      </p:sp>
      <p:sp>
        <p:nvSpPr>
          <p:cNvPr id="5" name="Footer Placeholder 4">
            <a:extLst>
              <a:ext uri="{FF2B5EF4-FFF2-40B4-BE49-F238E27FC236}">
                <a16:creationId xmlns:a16="http://schemas.microsoft.com/office/drawing/2014/main" id="{1CF76521-075E-AD92-071D-E0284B43C9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8B3C1C-EF63-028A-8E1E-21D3DE8D8323}"/>
              </a:ext>
            </a:extLst>
          </p:cNvPr>
          <p:cNvSpPr>
            <a:spLocks noGrp="1"/>
          </p:cNvSpPr>
          <p:nvPr>
            <p:ph type="sldNum" sz="quarter" idx="12"/>
          </p:nvPr>
        </p:nvSpPr>
        <p:spPr/>
        <p:txBody>
          <a:bodyPr/>
          <a:lstStyle/>
          <a:p>
            <a:fld id="{9FDC8A2F-3984-41D1-B1A5-CB53198B919F}" type="slidenum">
              <a:rPr lang="en-IN" smtClean="0"/>
              <a:t>‹#›</a:t>
            </a:fld>
            <a:endParaRPr lang="en-IN"/>
          </a:p>
        </p:txBody>
      </p:sp>
    </p:spTree>
    <p:extLst>
      <p:ext uri="{BB962C8B-B14F-4D97-AF65-F5344CB8AC3E}">
        <p14:creationId xmlns:p14="http://schemas.microsoft.com/office/powerpoint/2010/main" val="729117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13FB46-64A3-7486-F311-15D7B58487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E1B8EF5-BA63-278C-95A8-6D9D98C336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15790B-4DA0-35E0-2FB2-9F0E4B7420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C5F54F-36F6-4AF9-BBFA-32E12F763324}" type="datetimeFigureOut">
              <a:rPr lang="en-IN" smtClean="0"/>
              <a:t>14-10-2026</a:t>
            </a:fld>
            <a:endParaRPr lang="en-IN"/>
          </a:p>
        </p:txBody>
      </p:sp>
      <p:sp>
        <p:nvSpPr>
          <p:cNvPr id="5" name="Footer Placeholder 4">
            <a:extLst>
              <a:ext uri="{FF2B5EF4-FFF2-40B4-BE49-F238E27FC236}">
                <a16:creationId xmlns:a16="http://schemas.microsoft.com/office/drawing/2014/main" id="{EE43955B-BEC9-ECEE-90A9-2F62211F39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02D35C5-3618-FB3D-3763-F17AAB5C66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DC8A2F-3984-41D1-B1A5-CB53198B919F}" type="slidenum">
              <a:rPr lang="en-IN" smtClean="0"/>
              <a:t>‹#›</a:t>
            </a:fld>
            <a:endParaRPr lang="en-IN"/>
          </a:p>
        </p:txBody>
      </p:sp>
    </p:spTree>
    <p:extLst>
      <p:ext uri="{BB962C8B-B14F-4D97-AF65-F5344CB8AC3E}">
        <p14:creationId xmlns:p14="http://schemas.microsoft.com/office/powerpoint/2010/main" val="13778271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097956-9083-493C-BBC1-74B4DB691658}"/>
              </a:ext>
            </a:extLst>
          </p:cNvPr>
          <p:cNvSpPr/>
          <p:nvPr/>
        </p:nvSpPr>
        <p:spPr>
          <a:xfrm>
            <a:off x="0" y="0"/>
            <a:ext cx="203200" cy="68580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3BA417AB-C294-B5CE-6853-D93363589346}"/>
              </a:ext>
            </a:extLst>
          </p:cNvPr>
          <p:cNvSpPr/>
          <p:nvPr/>
        </p:nvSpPr>
        <p:spPr>
          <a:xfrm>
            <a:off x="698500" y="482600"/>
            <a:ext cx="4191000" cy="330200"/>
          </a:xfrm>
          <a:prstGeom prst="rect">
            <a:avLst/>
          </a:prstGeom>
          <a:solidFill>
            <a:srgbClr val="EFF6FF"/>
          </a:solidFill>
          <a:ln>
            <a:solidFill>
              <a:srgbClr val="93C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b="1">
                <a:solidFill>
                  <a:srgbClr val="2563EB"/>
                </a:solidFill>
                <a:latin typeface="Segoe UI" panose="020B0502040204020203" pitchFamily="34" charset="0"/>
              </a:rPr>
              <a:t>COLLEGE CA2 PROJECT EVALUATION - 2026</a:t>
            </a:r>
          </a:p>
        </p:txBody>
      </p:sp>
      <p:sp>
        <p:nvSpPr>
          <p:cNvPr id="4" name="TextBox 3">
            <a:extLst>
              <a:ext uri="{FF2B5EF4-FFF2-40B4-BE49-F238E27FC236}">
                <a16:creationId xmlns:a16="http://schemas.microsoft.com/office/drawing/2014/main" id="{800362AC-EA89-BAF0-DC1F-3D7A5292FEE8}"/>
              </a:ext>
            </a:extLst>
          </p:cNvPr>
          <p:cNvSpPr txBox="1"/>
          <p:nvPr/>
        </p:nvSpPr>
        <p:spPr>
          <a:xfrm>
            <a:off x="698500" y="965200"/>
            <a:ext cx="10795000" cy="600164"/>
          </a:xfrm>
          <a:prstGeom prst="rect">
            <a:avLst/>
          </a:prstGeom>
          <a:noFill/>
        </p:spPr>
        <p:txBody>
          <a:bodyPr vert="horz" lIns="0" rtlCol="0">
            <a:spAutoFit/>
          </a:bodyPr>
          <a:lstStyle/>
          <a:p>
            <a:r>
              <a:rPr lang="en-IN" sz="3300" b="1">
                <a:solidFill>
                  <a:srgbClr val="0F172A"/>
                </a:solidFill>
                <a:latin typeface="Segoe UI" panose="020B0502040204020203" pitchFamily="34" charset="0"/>
              </a:rPr>
              <a:t>Student Record Management System</a:t>
            </a:r>
          </a:p>
        </p:txBody>
      </p:sp>
      <p:sp>
        <p:nvSpPr>
          <p:cNvPr id="5" name="TextBox 4">
            <a:extLst>
              <a:ext uri="{FF2B5EF4-FFF2-40B4-BE49-F238E27FC236}">
                <a16:creationId xmlns:a16="http://schemas.microsoft.com/office/drawing/2014/main" id="{7A3CBD22-F2BB-6034-F273-D1798F1E12A9}"/>
              </a:ext>
            </a:extLst>
          </p:cNvPr>
          <p:cNvSpPr txBox="1"/>
          <p:nvPr/>
        </p:nvSpPr>
        <p:spPr>
          <a:xfrm>
            <a:off x="698500" y="1905000"/>
            <a:ext cx="10795000" cy="315471"/>
          </a:xfrm>
          <a:prstGeom prst="rect">
            <a:avLst/>
          </a:prstGeom>
          <a:noFill/>
        </p:spPr>
        <p:txBody>
          <a:bodyPr vert="horz" lIns="0" rtlCol="0">
            <a:spAutoFit/>
          </a:bodyPr>
          <a:lstStyle/>
          <a:p>
            <a:r>
              <a:rPr lang="en-US" sz="1450">
                <a:solidFill>
                  <a:srgbClr val="64748B"/>
                </a:solidFill>
                <a:latin typeface="Segoe UI" panose="020B0502040204020203" pitchFamily="34" charset="0"/>
              </a:rPr>
              <a:t>A Robust Full-Stack Web Application Powered by Python, Flask, PyMongo, and MongoDB</a:t>
            </a:r>
            <a:endParaRPr lang="en-IN" sz="1450">
              <a:solidFill>
                <a:srgbClr val="64748B"/>
              </a:solidFill>
              <a:latin typeface="Segoe UI" panose="020B0502040204020203" pitchFamily="34" charset="0"/>
            </a:endParaRPr>
          </a:p>
        </p:txBody>
      </p:sp>
      <p:sp>
        <p:nvSpPr>
          <p:cNvPr id="6" name="Rectangle 5">
            <a:extLst>
              <a:ext uri="{FF2B5EF4-FFF2-40B4-BE49-F238E27FC236}">
                <a16:creationId xmlns:a16="http://schemas.microsoft.com/office/drawing/2014/main" id="{C53BB152-7F31-A81D-15DB-223AA0DC4A9E}"/>
              </a:ext>
            </a:extLst>
          </p:cNvPr>
          <p:cNvSpPr/>
          <p:nvPr/>
        </p:nvSpPr>
        <p:spPr>
          <a:xfrm>
            <a:off x="698500" y="2603500"/>
            <a:ext cx="5969000" cy="2921000"/>
          </a:xfrm>
          <a:prstGeom prst="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B111953B-FD47-0870-4179-00D8F2ABFED7}"/>
              </a:ext>
            </a:extLst>
          </p:cNvPr>
          <p:cNvSpPr/>
          <p:nvPr/>
        </p:nvSpPr>
        <p:spPr>
          <a:xfrm>
            <a:off x="698500" y="2603500"/>
            <a:ext cx="63500" cy="29210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DB475DDF-F34F-078E-F51C-6D6D25900D20}"/>
              </a:ext>
            </a:extLst>
          </p:cNvPr>
          <p:cNvSpPr txBox="1"/>
          <p:nvPr/>
        </p:nvSpPr>
        <p:spPr>
          <a:xfrm>
            <a:off x="952500" y="2768600"/>
            <a:ext cx="5461000" cy="261610"/>
          </a:xfrm>
          <a:prstGeom prst="rect">
            <a:avLst/>
          </a:prstGeom>
          <a:noFill/>
        </p:spPr>
        <p:txBody>
          <a:bodyPr vert="horz" lIns="0" rtlCol="0">
            <a:spAutoFit/>
          </a:bodyPr>
          <a:lstStyle/>
          <a:p>
            <a:r>
              <a:rPr lang="en-IN" sz="1100" b="1">
                <a:solidFill>
                  <a:srgbClr val="2563EB"/>
                </a:solidFill>
                <a:latin typeface="Segoe UI" panose="020B0502040204020203" pitchFamily="34" charset="0"/>
              </a:rPr>
              <a:t>CANDIDATE AND SUBMISSION CREDENTIALS</a:t>
            </a:r>
          </a:p>
        </p:txBody>
      </p:sp>
      <p:sp>
        <p:nvSpPr>
          <p:cNvPr id="9" name="TextBox 8">
            <a:extLst>
              <a:ext uri="{FF2B5EF4-FFF2-40B4-BE49-F238E27FC236}">
                <a16:creationId xmlns:a16="http://schemas.microsoft.com/office/drawing/2014/main" id="{E32F04F1-C2D7-06B2-D6BD-AA18AA73EA07}"/>
              </a:ext>
            </a:extLst>
          </p:cNvPr>
          <p:cNvSpPr txBox="1"/>
          <p:nvPr/>
        </p:nvSpPr>
        <p:spPr>
          <a:xfrm>
            <a:off x="952500" y="3149600"/>
            <a:ext cx="5461000" cy="1200329"/>
          </a:xfrm>
          <a:prstGeom prst="rect">
            <a:avLst/>
          </a:prstGeom>
          <a:noFill/>
        </p:spPr>
        <p:txBody>
          <a:bodyPr vert="horz" lIns="0" rtlCol="0">
            <a:spAutoFit/>
          </a:bodyPr>
          <a:lstStyle/>
          <a:p>
            <a:r>
              <a:rPr lang="en-US" sz="1200" dirty="0">
                <a:solidFill>
                  <a:srgbClr val="1E293B"/>
                </a:solidFill>
                <a:latin typeface="Segoe UI" panose="020B0502040204020203" pitchFamily="34" charset="0"/>
              </a:rPr>
              <a:t>Candidate Name:  Nirmal Kumar
Registration No:  12311185
Course Program:  </a:t>
            </a:r>
            <a:r>
              <a:rPr lang="en-US" sz="1200" dirty="0" err="1">
                <a:solidFill>
                  <a:srgbClr val="1E293B"/>
                </a:solidFill>
                <a:latin typeface="Segoe UI" panose="020B0502040204020203" pitchFamily="34" charset="0"/>
              </a:rPr>
              <a:t>B.Tech</a:t>
            </a:r>
            <a:r>
              <a:rPr lang="en-US" sz="1200" dirty="0">
                <a:solidFill>
                  <a:srgbClr val="1E293B"/>
                </a:solidFill>
                <a:latin typeface="Segoe UI" panose="020B0502040204020203" pitchFamily="34" charset="0"/>
              </a:rPr>
              <a:t> (Computer Science and Engineering)
Department:      Department of Computer Science and Engineering
Evaluation Mode: Continuous Assessment 2 (CA2)
Academic Term:   Spring 2026</a:t>
            </a:r>
            <a:endParaRPr lang="en-IN" sz="1200" dirty="0">
              <a:solidFill>
                <a:srgbClr val="1E293B"/>
              </a:solidFill>
              <a:latin typeface="Segoe UI" panose="020B0502040204020203" pitchFamily="34" charset="0"/>
            </a:endParaRPr>
          </a:p>
        </p:txBody>
      </p:sp>
      <p:sp>
        <p:nvSpPr>
          <p:cNvPr id="10" name="Rectangle 9">
            <a:extLst>
              <a:ext uri="{FF2B5EF4-FFF2-40B4-BE49-F238E27FC236}">
                <a16:creationId xmlns:a16="http://schemas.microsoft.com/office/drawing/2014/main" id="{06E6FADF-DF3D-D65E-E04F-13F457A81386}"/>
              </a:ext>
            </a:extLst>
          </p:cNvPr>
          <p:cNvSpPr/>
          <p:nvPr/>
        </p:nvSpPr>
        <p:spPr>
          <a:xfrm>
            <a:off x="6921500" y="2603500"/>
            <a:ext cx="4572000" cy="2921000"/>
          </a:xfrm>
          <a:prstGeom prst="rect">
            <a:avLst/>
          </a:prstGeom>
          <a:solidFill>
            <a:srgbClr val="EFF6FF"/>
          </a:solidFill>
          <a:ln w="15240">
            <a:solidFill>
              <a:srgbClr val="93C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3A59A23B-A93E-DF9D-3D14-3D704D4F361A}"/>
              </a:ext>
            </a:extLst>
          </p:cNvPr>
          <p:cNvSpPr txBox="1"/>
          <p:nvPr/>
        </p:nvSpPr>
        <p:spPr>
          <a:xfrm>
            <a:off x="7175500" y="2768600"/>
            <a:ext cx="4064000" cy="261610"/>
          </a:xfrm>
          <a:prstGeom prst="rect">
            <a:avLst/>
          </a:prstGeom>
          <a:noFill/>
        </p:spPr>
        <p:txBody>
          <a:bodyPr vert="horz" lIns="0" rtlCol="0">
            <a:spAutoFit/>
          </a:bodyPr>
          <a:lstStyle/>
          <a:p>
            <a:r>
              <a:rPr lang="en-IN" sz="1100" b="1">
                <a:solidFill>
                  <a:srgbClr val="1A365D"/>
                </a:solidFill>
                <a:latin typeface="Segoe UI" panose="020B0502040204020203" pitchFamily="34" charset="0"/>
              </a:rPr>
              <a:t>CORE TECHNOLOGIES AND TOOLS</a:t>
            </a:r>
          </a:p>
        </p:txBody>
      </p:sp>
      <p:sp>
        <p:nvSpPr>
          <p:cNvPr id="12" name="TextBox 11">
            <a:extLst>
              <a:ext uri="{FF2B5EF4-FFF2-40B4-BE49-F238E27FC236}">
                <a16:creationId xmlns:a16="http://schemas.microsoft.com/office/drawing/2014/main" id="{BF2B41F3-A0EB-D3E6-13CD-73331ED5FBFA}"/>
              </a:ext>
            </a:extLst>
          </p:cNvPr>
          <p:cNvSpPr txBox="1"/>
          <p:nvPr/>
        </p:nvSpPr>
        <p:spPr>
          <a:xfrm>
            <a:off x="7175500" y="3149600"/>
            <a:ext cx="4064000" cy="1154162"/>
          </a:xfrm>
          <a:prstGeom prst="rect">
            <a:avLst/>
          </a:prstGeom>
          <a:noFill/>
        </p:spPr>
        <p:txBody>
          <a:bodyPr vert="horz" lIns="0" rtlCol="0">
            <a:spAutoFit/>
          </a:bodyPr>
          <a:lstStyle/>
          <a:p>
            <a:r>
              <a:rPr lang="en-IN" sz="1150">
                <a:solidFill>
                  <a:srgbClr val="0F172A"/>
                </a:solidFill>
                <a:latin typeface="Segoe UI" panose="020B0502040204020203" pitchFamily="34" charset="0"/>
              </a:rPr>
              <a:t>[x] Python 3.10  (Application Backend Logic)
[x] Flask 3.1    (WSGI Micro Web Framework)
[x] MongoDB      (NoSQL Document Database)
[x] PyMongo 4.18 (Python Database Driver)
[x] HTML5 and CSS3 (Responsive UI and Cards)
[x] Python-Dotenv (Secure Environment Config)</a:t>
            </a:r>
          </a:p>
        </p:txBody>
      </p:sp>
    </p:spTree>
    <p:extLst>
      <p:ext uri="{BB962C8B-B14F-4D97-AF65-F5344CB8AC3E}">
        <p14:creationId xmlns:p14="http://schemas.microsoft.com/office/powerpoint/2010/main" val="2707995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9B87A3-61DA-B238-0E20-498BEEB775F2}"/>
              </a:ext>
            </a:extLst>
          </p:cNvPr>
          <p:cNvSpPr/>
          <p:nvPr/>
        </p:nvSpPr>
        <p:spPr>
          <a:xfrm>
            <a:off x="0" y="0"/>
            <a:ext cx="12192000" cy="762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017E194B-3166-816E-9B06-32B46ACDA69E}"/>
              </a:ext>
            </a:extLst>
          </p:cNvPr>
          <p:cNvSpPr txBox="1"/>
          <p:nvPr/>
        </p:nvSpPr>
        <p:spPr>
          <a:xfrm>
            <a:off x="571500" y="254000"/>
            <a:ext cx="11049000" cy="200055"/>
          </a:xfrm>
          <a:prstGeom prst="rect">
            <a:avLst/>
          </a:prstGeom>
          <a:noFill/>
        </p:spPr>
        <p:txBody>
          <a:bodyPr vert="horz" lIns="0" tIns="0" rtlCol="0">
            <a:spAutoFit/>
          </a:bodyPr>
          <a:lstStyle/>
          <a:p>
            <a:r>
              <a:rPr lang="en-IN" sz="1000" b="1">
                <a:solidFill>
                  <a:srgbClr val="2563EB"/>
                </a:solidFill>
                <a:latin typeface="Segoe UI" panose="020B0502040204020203" pitchFamily="34" charset="0"/>
              </a:rPr>
              <a:t>01 | INTRODUCTION</a:t>
            </a:r>
          </a:p>
        </p:txBody>
      </p:sp>
      <p:sp>
        <p:nvSpPr>
          <p:cNvPr id="4" name="TextBox 3">
            <a:extLst>
              <a:ext uri="{FF2B5EF4-FFF2-40B4-BE49-F238E27FC236}">
                <a16:creationId xmlns:a16="http://schemas.microsoft.com/office/drawing/2014/main" id="{52853051-9280-8B84-8AEB-07CD8E523C0E}"/>
              </a:ext>
            </a:extLst>
          </p:cNvPr>
          <p:cNvSpPr txBox="1"/>
          <p:nvPr/>
        </p:nvSpPr>
        <p:spPr>
          <a:xfrm>
            <a:off x="571500" y="508000"/>
            <a:ext cx="11049000" cy="384721"/>
          </a:xfrm>
          <a:prstGeom prst="rect">
            <a:avLst/>
          </a:prstGeom>
          <a:noFill/>
        </p:spPr>
        <p:txBody>
          <a:bodyPr vert="horz" lIns="0" tIns="0" rtlCol="0">
            <a:spAutoFit/>
          </a:bodyPr>
          <a:lstStyle/>
          <a:p>
            <a:r>
              <a:rPr lang="en-IN" sz="2200" b="1">
                <a:solidFill>
                  <a:srgbClr val="1A365D"/>
                </a:solidFill>
                <a:latin typeface="Segoe UI" panose="020B0502040204020203" pitchFamily="34" charset="0"/>
              </a:rPr>
              <a:t>Modernizing Academic Record Management</a:t>
            </a:r>
          </a:p>
        </p:txBody>
      </p:sp>
      <p:sp>
        <p:nvSpPr>
          <p:cNvPr id="5" name="Rectangle 4">
            <a:extLst>
              <a:ext uri="{FF2B5EF4-FFF2-40B4-BE49-F238E27FC236}">
                <a16:creationId xmlns:a16="http://schemas.microsoft.com/office/drawing/2014/main" id="{F3CF7150-6727-A956-351A-3B76C2DB50F5}"/>
              </a:ext>
            </a:extLst>
          </p:cNvPr>
          <p:cNvSpPr/>
          <p:nvPr/>
        </p:nvSpPr>
        <p:spPr>
          <a:xfrm>
            <a:off x="571500" y="1117600"/>
            <a:ext cx="11049000" cy="19050"/>
          </a:xfrm>
          <a:prstGeom prst="rect">
            <a:avLst/>
          </a:prstGeom>
          <a:solidFill>
            <a:srgbClr val="CBD5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E723178E-C715-03CC-8EC2-091CEA7BDC0B}"/>
              </a:ext>
            </a:extLst>
          </p:cNvPr>
          <p:cNvSpPr txBox="1"/>
          <p:nvPr/>
        </p:nvSpPr>
        <p:spPr>
          <a:xfrm>
            <a:off x="571500" y="6477000"/>
            <a:ext cx="11049000" cy="184666"/>
          </a:xfrm>
          <a:prstGeom prst="rect">
            <a:avLst/>
          </a:prstGeom>
          <a:noFill/>
        </p:spPr>
        <p:txBody>
          <a:bodyPr vert="horz" lIns="0" tIns="0" rtlCol="0">
            <a:spAutoFit/>
          </a:bodyPr>
          <a:lstStyle/>
          <a:p>
            <a:r>
              <a:rPr lang="en-IN" sz="900">
                <a:solidFill>
                  <a:srgbClr val="64748B"/>
                </a:solidFill>
                <a:latin typeface="Segoe UI" panose="020B0502040204020203" pitchFamily="34" charset="0"/>
              </a:rPr>
              <a:t>Student Record Management System  |  College CA2 Project  |  Nirmal Kumar (12201458)</a:t>
            </a:r>
          </a:p>
        </p:txBody>
      </p:sp>
      <p:sp>
        <p:nvSpPr>
          <p:cNvPr id="7" name="Rectangle 6">
            <a:extLst>
              <a:ext uri="{FF2B5EF4-FFF2-40B4-BE49-F238E27FC236}">
                <a16:creationId xmlns:a16="http://schemas.microsoft.com/office/drawing/2014/main" id="{30571777-D7DC-52AE-40A7-9800C5F2F96B}"/>
              </a:ext>
            </a:extLst>
          </p:cNvPr>
          <p:cNvSpPr/>
          <p:nvPr/>
        </p:nvSpPr>
        <p:spPr>
          <a:xfrm>
            <a:off x="571500" y="1333500"/>
            <a:ext cx="5334000" cy="4889500"/>
          </a:xfrm>
          <a:prstGeom prst="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07FF9737-FA05-9F74-E3F8-DBFE4669208E}"/>
              </a:ext>
            </a:extLst>
          </p:cNvPr>
          <p:cNvSpPr/>
          <p:nvPr/>
        </p:nvSpPr>
        <p:spPr>
          <a:xfrm>
            <a:off x="571500" y="1333500"/>
            <a:ext cx="63500" cy="48895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DB0BF578-9317-BDA5-D782-5FECF4533675}"/>
              </a:ext>
            </a:extLst>
          </p:cNvPr>
          <p:cNvSpPr txBox="1"/>
          <p:nvPr/>
        </p:nvSpPr>
        <p:spPr>
          <a:xfrm>
            <a:off x="774700" y="1511300"/>
            <a:ext cx="4927600" cy="253916"/>
          </a:xfrm>
          <a:prstGeom prst="rect">
            <a:avLst/>
          </a:prstGeom>
          <a:noFill/>
        </p:spPr>
        <p:txBody>
          <a:bodyPr vert="horz" wrap="square" lIns="0" tIns="0" rtlCol="0">
            <a:spAutoFit/>
          </a:bodyPr>
          <a:lstStyle/>
          <a:p>
            <a:r>
              <a:rPr lang="en-IN" sz="1350" b="1">
                <a:solidFill>
                  <a:srgbClr val="0F172A"/>
                </a:solidFill>
                <a:latin typeface="Segoe UI" panose="020B0502040204020203" pitchFamily="34" charset="0"/>
              </a:rPr>
              <a:t>Background and Context</a:t>
            </a:r>
          </a:p>
        </p:txBody>
      </p:sp>
      <p:sp>
        <p:nvSpPr>
          <p:cNvPr id="10" name="TextBox 9">
            <a:extLst>
              <a:ext uri="{FF2B5EF4-FFF2-40B4-BE49-F238E27FC236}">
                <a16:creationId xmlns:a16="http://schemas.microsoft.com/office/drawing/2014/main" id="{D36EA053-6314-B2EA-CC04-8F1C66B949D7}"/>
              </a:ext>
            </a:extLst>
          </p:cNvPr>
          <p:cNvSpPr txBox="1"/>
          <p:nvPr/>
        </p:nvSpPr>
        <p:spPr>
          <a:xfrm>
            <a:off x="774700" y="1892300"/>
            <a:ext cx="4927600" cy="1908215"/>
          </a:xfrm>
          <a:prstGeom prst="rect">
            <a:avLst/>
          </a:prstGeom>
          <a:noFill/>
        </p:spPr>
        <p:txBody>
          <a:bodyPr vert="horz" wrap="square" lIns="0" tIns="0" rtlCol="0">
            <a:spAutoFit/>
          </a:bodyPr>
          <a:lstStyle/>
          <a:p>
            <a:r>
              <a:rPr lang="en-US" sz="1100">
                <a:solidFill>
                  <a:srgbClr val="1E293B"/>
                </a:solidFill>
                <a:latin typeface="Segoe UI" panose="020B0502040204020203" pitchFamily="34" charset="0"/>
              </a:rPr>
              <a:t>Academic institutions handle vast quantities of student academic, personal, and enrollment data across departments every term.
Legacy reliance on physical paper registers and unlinked spreadsheets introduces data duplication, calculation mistakes, and slow retrieval.
The Student Record Management System provides a centralized, secure web-based registry accessible via any modern web browser.
Developed specifically for college continuous assessment (CA2), offering complete student lifecycle management with zero operational friction.</a:t>
            </a:r>
            <a:endParaRPr lang="en-IN" sz="1100">
              <a:solidFill>
                <a:srgbClr val="1E293B"/>
              </a:solidFill>
              <a:latin typeface="Segoe UI" panose="020B0502040204020203" pitchFamily="34" charset="0"/>
            </a:endParaRPr>
          </a:p>
        </p:txBody>
      </p:sp>
      <p:sp>
        <p:nvSpPr>
          <p:cNvPr id="11" name="Rectangle 10">
            <a:extLst>
              <a:ext uri="{FF2B5EF4-FFF2-40B4-BE49-F238E27FC236}">
                <a16:creationId xmlns:a16="http://schemas.microsoft.com/office/drawing/2014/main" id="{0F1527C6-9BB9-2A9E-E20F-393BEC96B63E}"/>
              </a:ext>
            </a:extLst>
          </p:cNvPr>
          <p:cNvSpPr/>
          <p:nvPr/>
        </p:nvSpPr>
        <p:spPr>
          <a:xfrm>
            <a:off x="6286500" y="1333500"/>
            <a:ext cx="5334000" cy="4889500"/>
          </a:xfrm>
          <a:prstGeom prst="rect">
            <a:avLst/>
          </a:prstGeom>
          <a:solidFill>
            <a:srgbClr val="EFF6FF"/>
          </a:solidFill>
          <a:ln w="15240">
            <a:solidFill>
              <a:srgbClr val="93C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401B0D43-FD96-6F89-CC7C-9913228DC781}"/>
              </a:ext>
            </a:extLst>
          </p:cNvPr>
          <p:cNvSpPr/>
          <p:nvPr/>
        </p:nvSpPr>
        <p:spPr>
          <a:xfrm>
            <a:off x="6286500" y="1333500"/>
            <a:ext cx="63500" cy="48895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FEBA5B30-9099-1479-A1E5-665FFE876556}"/>
              </a:ext>
            </a:extLst>
          </p:cNvPr>
          <p:cNvSpPr txBox="1"/>
          <p:nvPr/>
        </p:nvSpPr>
        <p:spPr>
          <a:xfrm>
            <a:off x="6489700" y="1511300"/>
            <a:ext cx="4927600" cy="253916"/>
          </a:xfrm>
          <a:prstGeom prst="rect">
            <a:avLst/>
          </a:prstGeom>
          <a:noFill/>
        </p:spPr>
        <p:txBody>
          <a:bodyPr vert="horz" wrap="square" lIns="0" tIns="0" rtlCol="0">
            <a:spAutoFit/>
          </a:bodyPr>
          <a:lstStyle/>
          <a:p>
            <a:r>
              <a:rPr lang="en-IN" sz="1350" b="1">
                <a:solidFill>
                  <a:srgbClr val="0F172A"/>
                </a:solidFill>
                <a:latin typeface="Segoe UI" panose="020B0502040204020203" pitchFamily="34" charset="0"/>
              </a:rPr>
              <a:t>Key Advantages and Architecture</a:t>
            </a:r>
          </a:p>
        </p:txBody>
      </p:sp>
      <p:sp>
        <p:nvSpPr>
          <p:cNvPr id="14" name="TextBox 13">
            <a:extLst>
              <a:ext uri="{FF2B5EF4-FFF2-40B4-BE49-F238E27FC236}">
                <a16:creationId xmlns:a16="http://schemas.microsoft.com/office/drawing/2014/main" id="{88152B5E-988D-F2D7-9648-E40DEBFFCABA}"/>
              </a:ext>
            </a:extLst>
          </p:cNvPr>
          <p:cNvSpPr txBox="1"/>
          <p:nvPr/>
        </p:nvSpPr>
        <p:spPr>
          <a:xfrm>
            <a:off x="6489700" y="1892300"/>
            <a:ext cx="4927600" cy="1908215"/>
          </a:xfrm>
          <a:prstGeom prst="rect">
            <a:avLst/>
          </a:prstGeom>
          <a:noFill/>
        </p:spPr>
        <p:txBody>
          <a:bodyPr vert="horz" wrap="square" lIns="0" tIns="0" rtlCol="0">
            <a:spAutoFit/>
          </a:bodyPr>
          <a:lstStyle/>
          <a:p>
            <a:r>
              <a:rPr lang="en-IN" sz="1100">
                <a:solidFill>
                  <a:srgbClr val="1E293B"/>
                </a:solidFill>
                <a:latin typeface="Segoe UI" panose="020B0502040204020203" pitchFamily="34" charset="0"/>
              </a:rPr>
              <a:t>Zero Installation Barrier: Runs smoothly in any web browser without requiring heavy desktop client software.
Document-Oriented Storage: Utilizes MongoDB BSON documents instead of rigid tables, reflecting natural student profile structures.
High Fault Tolerance: Built-in connection ping check, server fault isolation, and safe input parsing prevent application crashes.
Live KPI Analytics: Instant visual calculation of total enrolled students, overall average CGPA, and top academic scores upon every visit.</a:t>
            </a:r>
          </a:p>
        </p:txBody>
      </p:sp>
    </p:spTree>
    <p:extLst>
      <p:ext uri="{BB962C8B-B14F-4D97-AF65-F5344CB8AC3E}">
        <p14:creationId xmlns:p14="http://schemas.microsoft.com/office/powerpoint/2010/main" val="1145632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A11FF2-2588-5222-E5DB-F6BC7357135C}"/>
              </a:ext>
            </a:extLst>
          </p:cNvPr>
          <p:cNvSpPr/>
          <p:nvPr/>
        </p:nvSpPr>
        <p:spPr>
          <a:xfrm>
            <a:off x="0" y="0"/>
            <a:ext cx="12192000" cy="762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1CC60FCC-B1B7-A55A-6A0F-81E642770CD2}"/>
              </a:ext>
            </a:extLst>
          </p:cNvPr>
          <p:cNvSpPr txBox="1"/>
          <p:nvPr/>
        </p:nvSpPr>
        <p:spPr>
          <a:xfrm>
            <a:off x="571500" y="254000"/>
            <a:ext cx="11049000" cy="200055"/>
          </a:xfrm>
          <a:prstGeom prst="rect">
            <a:avLst/>
          </a:prstGeom>
          <a:noFill/>
        </p:spPr>
        <p:txBody>
          <a:bodyPr vert="horz" lIns="0" tIns="0" rtlCol="0">
            <a:spAutoFit/>
          </a:bodyPr>
          <a:lstStyle/>
          <a:p>
            <a:r>
              <a:rPr lang="en-IN" sz="1000" b="1">
                <a:solidFill>
                  <a:srgbClr val="2563EB"/>
                </a:solidFill>
                <a:latin typeface="Segoe UI" panose="020B0502040204020203" pitchFamily="34" charset="0"/>
              </a:rPr>
              <a:t>02 | PROBLEM STATEMENT</a:t>
            </a:r>
          </a:p>
        </p:txBody>
      </p:sp>
      <p:sp>
        <p:nvSpPr>
          <p:cNvPr id="4" name="TextBox 3">
            <a:extLst>
              <a:ext uri="{FF2B5EF4-FFF2-40B4-BE49-F238E27FC236}">
                <a16:creationId xmlns:a16="http://schemas.microsoft.com/office/drawing/2014/main" id="{13CD5F54-5A2C-F069-1479-B51AC558EFF8}"/>
              </a:ext>
            </a:extLst>
          </p:cNvPr>
          <p:cNvSpPr txBox="1"/>
          <p:nvPr/>
        </p:nvSpPr>
        <p:spPr>
          <a:xfrm>
            <a:off x="571500" y="508000"/>
            <a:ext cx="11049000" cy="384721"/>
          </a:xfrm>
          <a:prstGeom prst="rect">
            <a:avLst/>
          </a:prstGeom>
          <a:noFill/>
        </p:spPr>
        <p:txBody>
          <a:bodyPr vert="horz" lIns="0" tIns="0" rtlCol="0">
            <a:spAutoFit/>
          </a:bodyPr>
          <a:lstStyle/>
          <a:p>
            <a:r>
              <a:rPr lang="en-US" sz="2200" b="1">
                <a:solidFill>
                  <a:srgbClr val="1A365D"/>
                </a:solidFill>
                <a:latin typeface="Segoe UI" panose="020B0502040204020203" pitchFamily="34" charset="0"/>
              </a:rPr>
              <a:t>Challenges in Traditional Student Record Systems</a:t>
            </a:r>
            <a:endParaRPr lang="en-IN" sz="2200" b="1">
              <a:solidFill>
                <a:srgbClr val="1A365D"/>
              </a:solidFill>
              <a:latin typeface="Segoe UI" panose="020B0502040204020203" pitchFamily="34" charset="0"/>
            </a:endParaRPr>
          </a:p>
        </p:txBody>
      </p:sp>
      <p:sp>
        <p:nvSpPr>
          <p:cNvPr id="5" name="Rectangle 4">
            <a:extLst>
              <a:ext uri="{FF2B5EF4-FFF2-40B4-BE49-F238E27FC236}">
                <a16:creationId xmlns:a16="http://schemas.microsoft.com/office/drawing/2014/main" id="{A701DBE4-9CAD-8D75-8338-FA36D1BC3DBD}"/>
              </a:ext>
            </a:extLst>
          </p:cNvPr>
          <p:cNvSpPr/>
          <p:nvPr/>
        </p:nvSpPr>
        <p:spPr>
          <a:xfrm>
            <a:off x="571500" y="1117600"/>
            <a:ext cx="11049000" cy="19050"/>
          </a:xfrm>
          <a:prstGeom prst="rect">
            <a:avLst/>
          </a:prstGeom>
          <a:solidFill>
            <a:srgbClr val="CBD5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C68D56FB-F052-EC1B-F572-1F934BFB3891}"/>
              </a:ext>
            </a:extLst>
          </p:cNvPr>
          <p:cNvSpPr txBox="1"/>
          <p:nvPr/>
        </p:nvSpPr>
        <p:spPr>
          <a:xfrm>
            <a:off x="571500" y="6477000"/>
            <a:ext cx="11049000" cy="184666"/>
          </a:xfrm>
          <a:prstGeom prst="rect">
            <a:avLst/>
          </a:prstGeom>
          <a:noFill/>
        </p:spPr>
        <p:txBody>
          <a:bodyPr vert="horz" lIns="0" tIns="0" rtlCol="0">
            <a:spAutoFit/>
          </a:bodyPr>
          <a:lstStyle/>
          <a:p>
            <a:r>
              <a:rPr lang="en-IN" sz="900">
                <a:solidFill>
                  <a:srgbClr val="64748B"/>
                </a:solidFill>
                <a:latin typeface="Segoe UI" panose="020B0502040204020203" pitchFamily="34" charset="0"/>
              </a:rPr>
              <a:t>Student Record Management System  |  College CA2 Project  |  Nirmal Kumar (12201458)</a:t>
            </a:r>
          </a:p>
        </p:txBody>
      </p:sp>
      <p:sp>
        <p:nvSpPr>
          <p:cNvPr id="7" name="Rectangle 6">
            <a:extLst>
              <a:ext uri="{FF2B5EF4-FFF2-40B4-BE49-F238E27FC236}">
                <a16:creationId xmlns:a16="http://schemas.microsoft.com/office/drawing/2014/main" id="{A9F9A54A-1111-1D72-526D-877E685F0C46}"/>
              </a:ext>
            </a:extLst>
          </p:cNvPr>
          <p:cNvSpPr/>
          <p:nvPr/>
        </p:nvSpPr>
        <p:spPr>
          <a:xfrm>
            <a:off x="571500" y="1333500"/>
            <a:ext cx="3492500" cy="4889500"/>
          </a:xfrm>
          <a:prstGeom prst="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4748D130-74A4-A7FC-2686-5257DB7E398F}"/>
              </a:ext>
            </a:extLst>
          </p:cNvPr>
          <p:cNvSpPr/>
          <p:nvPr/>
        </p:nvSpPr>
        <p:spPr>
          <a:xfrm>
            <a:off x="571500" y="1333500"/>
            <a:ext cx="63500" cy="48895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C68CB296-BB35-4550-ED7A-B46D1366A249}"/>
              </a:ext>
            </a:extLst>
          </p:cNvPr>
          <p:cNvSpPr txBox="1"/>
          <p:nvPr/>
        </p:nvSpPr>
        <p:spPr>
          <a:xfrm>
            <a:off x="774700" y="1511300"/>
            <a:ext cx="3086100" cy="253916"/>
          </a:xfrm>
          <a:prstGeom prst="rect">
            <a:avLst/>
          </a:prstGeom>
          <a:noFill/>
        </p:spPr>
        <p:txBody>
          <a:bodyPr vert="horz" wrap="square" lIns="0" tIns="0" rtlCol="0">
            <a:spAutoFit/>
          </a:bodyPr>
          <a:lstStyle/>
          <a:p>
            <a:r>
              <a:rPr lang="en-IN" sz="1350" b="1">
                <a:solidFill>
                  <a:srgbClr val="0F172A"/>
                </a:solidFill>
                <a:latin typeface="Segoe UI" panose="020B0502040204020203" pitchFamily="34" charset="0"/>
              </a:rPr>
              <a:t>1. Data Redundancy</a:t>
            </a:r>
          </a:p>
        </p:txBody>
      </p:sp>
      <p:sp>
        <p:nvSpPr>
          <p:cNvPr id="10" name="TextBox 9">
            <a:extLst>
              <a:ext uri="{FF2B5EF4-FFF2-40B4-BE49-F238E27FC236}">
                <a16:creationId xmlns:a16="http://schemas.microsoft.com/office/drawing/2014/main" id="{92FAB460-E1E5-5D5F-1A23-15F072452FA1}"/>
              </a:ext>
            </a:extLst>
          </p:cNvPr>
          <p:cNvSpPr txBox="1"/>
          <p:nvPr/>
        </p:nvSpPr>
        <p:spPr>
          <a:xfrm>
            <a:off x="774700" y="1892300"/>
            <a:ext cx="3086100" cy="1908215"/>
          </a:xfrm>
          <a:prstGeom prst="rect">
            <a:avLst/>
          </a:prstGeom>
          <a:noFill/>
        </p:spPr>
        <p:txBody>
          <a:bodyPr vert="horz" wrap="square" lIns="0" tIns="0" rtlCol="0">
            <a:spAutoFit/>
          </a:bodyPr>
          <a:lstStyle/>
          <a:p>
            <a:r>
              <a:rPr lang="en-US" sz="1100">
                <a:solidFill>
                  <a:srgbClr val="1E293B"/>
                </a:solidFill>
                <a:latin typeface="Segoe UI" panose="020B0502040204020203" pitchFamily="34" charset="0"/>
              </a:rPr>
              <a:t>Duplicate Enrollments: Manual entry frequently leads to duplicate roll numbers assigned to multiple students.
Inconsistent Records: Changes made in local spreadsheets fail to propagate to department heads.
Rigid Schemas: Adding custom fields in legacy SQL systems requires complex, disruptive database migrations.</a:t>
            </a:r>
            <a:endParaRPr lang="en-IN" sz="1100">
              <a:solidFill>
                <a:srgbClr val="1E293B"/>
              </a:solidFill>
              <a:latin typeface="Segoe UI" panose="020B0502040204020203" pitchFamily="34" charset="0"/>
            </a:endParaRPr>
          </a:p>
        </p:txBody>
      </p:sp>
      <p:sp>
        <p:nvSpPr>
          <p:cNvPr id="11" name="Rectangle 10">
            <a:extLst>
              <a:ext uri="{FF2B5EF4-FFF2-40B4-BE49-F238E27FC236}">
                <a16:creationId xmlns:a16="http://schemas.microsoft.com/office/drawing/2014/main" id="{BF9F6BD6-0D5A-3D2C-EC6A-8A47415A66DB}"/>
              </a:ext>
            </a:extLst>
          </p:cNvPr>
          <p:cNvSpPr/>
          <p:nvPr/>
        </p:nvSpPr>
        <p:spPr>
          <a:xfrm>
            <a:off x="4343400" y="1333500"/>
            <a:ext cx="3492500" cy="4889500"/>
          </a:xfrm>
          <a:prstGeom prst="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FDC1A49C-1CF8-94E3-B85A-A678EA60BA07}"/>
              </a:ext>
            </a:extLst>
          </p:cNvPr>
          <p:cNvSpPr/>
          <p:nvPr/>
        </p:nvSpPr>
        <p:spPr>
          <a:xfrm>
            <a:off x="4343400" y="1333500"/>
            <a:ext cx="63500" cy="48895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04BDB85F-3860-E660-1034-1224D2EEFBDF}"/>
              </a:ext>
            </a:extLst>
          </p:cNvPr>
          <p:cNvSpPr txBox="1"/>
          <p:nvPr/>
        </p:nvSpPr>
        <p:spPr>
          <a:xfrm>
            <a:off x="4546600" y="1511300"/>
            <a:ext cx="3086100" cy="253916"/>
          </a:xfrm>
          <a:prstGeom prst="rect">
            <a:avLst/>
          </a:prstGeom>
          <a:noFill/>
        </p:spPr>
        <p:txBody>
          <a:bodyPr vert="horz" wrap="square" lIns="0" tIns="0" rtlCol="0">
            <a:spAutoFit/>
          </a:bodyPr>
          <a:lstStyle/>
          <a:p>
            <a:r>
              <a:rPr lang="en-IN" sz="1350" b="1">
                <a:solidFill>
                  <a:srgbClr val="0F172A"/>
                </a:solidFill>
                <a:latin typeface="Segoe UI" panose="020B0502040204020203" pitchFamily="34" charset="0"/>
              </a:rPr>
              <a:t>2. Inefficient Retrieval</a:t>
            </a:r>
          </a:p>
        </p:txBody>
      </p:sp>
      <p:sp>
        <p:nvSpPr>
          <p:cNvPr id="14" name="TextBox 13">
            <a:extLst>
              <a:ext uri="{FF2B5EF4-FFF2-40B4-BE49-F238E27FC236}">
                <a16:creationId xmlns:a16="http://schemas.microsoft.com/office/drawing/2014/main" id="{BA9479D6-0FA4-3C74-0A47-81FF3684B21E}"/>
              </a:ext>
            </a:extLst>
          </p:cNvPr>
          <p:cNvSpPr txBox="1"/>
          <p:nvPr/>
        </p:nvSpPr>
        <p:spPr>
          <a:xfrm>
            <a:off x="4546600" y="1892300"/>
            <a:ext cx="3086100" cy="1908215"/>
          </a:xfrm>
          <a:prstGeom prst="rect">
            <a:avLst/>
          </a:prstGeom>
          <a:noFill/>
        </p:spPr>
        <p:txBody>
          <a:bodyPr vert="horz" wrap="square" lIns="0" tIns="0" rtlCol="0">
            <a:spAutoFit/>
          </a:bodyPr>
          <a:lstStyle/>
          <a:p>
            <a:r>
              <a:rPr lang="en-US" sz="1100">
                <a:solidFill>
                  <a:srgbClr val="1E293B"/>
                </a:solidFill>
                <a:latin typeface="Segoe UI" panose="020B0502040204020203" pitchFamily="34" charset="0"/>
              </a:rPr>
              <a:t>Slow Querying: Manually searching through hundreds of paper records or spreadsheet rows causes delays.
No Filter Controls: Inability to instantly filter student cohorts by academic department or semester standing.
Fragmented Analytics: Lack of high-level overview metrics such as class CGPA averages and department enrollment numbers.</a:t>
            </a:r>
            <a:endParaRPr lang="en-IN" sz="1100">
              <a:solidFill>
                <a:srgbClr val="1E293B"/>
              </a:solidFill>
              <a:latin typeface="Segoe UI" panose="020B0502040204020203" pitchFamily="34" charset="0"/>
            </a:endParaRPr>
          </a:p>
        </p:txBody>
      </p:sp>
      <p:sp>
        <p:nvSpPr>
          <p:cNvPr id="15" name="Rectangle 14">
            <a:extLst>
              <a:ext uri="{FF2B5EF4-FFF2-40B4-BE49-F238E27FC236}">
                <a16:creationId xmlns:a16="http://schemas.microsoft.com/office/drawing/2014/main" id="{17249073-9E8C-B507-116B-49AB017DC835}"/>
              </a:ext>
            </a:extLst>
          </p:cNvPr>
          <p:cNvSpPr/>
          <p:nvPr/>
        </p:nvSpPr>
        <p:spPr>
          <a:xfrm>
            <a:off x="8128000" y="1333500"/>
            <a:ext cx="3492500" cy="4889500"/>
          </a:xfrm>
          <a:prstGeom prst="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05A67FE7-7003-61EF-1640-9646790387B6}"/>
              </a:ext>
            </a:extLst>
          </p:cNvPr>
          <p:cNvSpPr/>
          <p:nvPr/>
        </p:nvSpPr>
        <p:spPr>
          <a:xfrm>
            <a:off x="8128000" y="1333500"/>
            <a:ext cx="63500" cy="48895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87E8A391-F864-E0BF-6A92-1D637BBBCB43}"/>
              </a:ext>
            </a:extLst>
          </p:cNvPr>
          <p:cNvSpPr txBox="1"/>
          <p:nvPr/>
        </p:nvSpPr>
        <p:spPr>
          <a:xfrm>
            <a:off x="8331200" y="1511300"/>
            <a:ext cx="3086100" cy="253916"/>
          </a:xfrm>
          <a:prstGeom prst="rect">
            <a:avLst/>
          </a:prstGeom>
          <a:noFill/>
        </p:spPr>
        <p:txBody>
          <a:bodyPr vert="horz" wrap="square" lIns="0" tIns="0" rtlCol="0">
            <a:spAutoFit/>
          </a:bodyPr>
          <a:lstStyle/>
          <a:p>
            <a:r>
              <a:rPr lang="en-US" sz="1350" b="1">
                <a:solidFill>
                  <a:srgbClr val="0F172A"/>
                </a:solidFill>
                <a:latin typeface="Segoe UI" panose="020B0502040204020203" pitchFamily="34" charset="0"/>
              </a:rPr>
              <a:t>3. Data Safety and Integrity</a:t>
            </a:r>
            <a:endParaRPr lang="en-IN" sz="1350" b="1">
              <a:solidFill>
                <a:srgbClr val="0F172A"/>
              </a:solidFill>
              <a:latin typeface="Segoe UI" panose="020B0502040204020203" pitchFamily="34" charset="0"/>
            </a:endParaRPr>
          </a:p>
        </p:txBody>
      </p:sp>
      <p:sp>
        <p:nvSpPr>
          <p:cNvPr id="18" name="TextBox 17">
            <a:extLst>
              <a:ext uri="{FF2B5EF4-FFF2-40B4-BE49-F238E27FC236}">
                <a16:creationId xmlns:a16="http://schemas.microsoft.com/office/drawing/2014/main" id="{9DFB7FEE-33D2-B1CB-D133-54493E6F2DAD}"/>
              </a:ext>
            </a:extLst>
          </p:cNvPr>
          <p:cNvSpPr txBox="1"/>
          <p:nvPr/>
        </p:nvSpPr>
        <p:spPr>
          <a:xfrm>
            <a:off x="8331200" y="1892300"/>
            <a:ext cx="3086100" cy="1908215"/>
          </a:xfrm>
          <a:prstGeom prst="rect">
            <a:avLst/>
          </a:prstGeom>
          <a:noFill/>
        </p:spPr>
        <p:txBody>
          <a:bodyPr vert="horz" wrap="square" lIns="0" tIns="0" rtlCol="0">
            <a:spAutoFit/>
          </a:bodyPr>
          <a:lstStyle/>
          <a:p>
            <a:r>
              <a:rPr lang="en-IN" sz="1100">
                <a:solidFill>
                  <a:srgbClr val="1E293B"/>
                </a:solidFill>
                <a:latin typeface="Segoe UI" panose="020B0502040204020203" pitchFamily="34" charset="0"/>
              </a:rPr>
              <a:t>Accidental Deletion: Unprotected record modification with no confirmation prompts or undo awareness.
Validation Omissions: Invalid CGPAs (e.g. greater than 10.0) or malformed emails enter the system unchecked.
Hardcoded Secrets: Storing database passwords directly in source code creates severe security vulnerabilities.</a:t>
            </a:r>
          </a:p>
        </p:txBody>
      </p:sp>
    </p:spTree>
    <p:extLst>
      <p:ext uri="{BB962C8B-B14F-4D97-AF65-F5344CB8AC3E}">
        <p14:creationId xmlns:p14="http://schemas.microsoft.com/office/powerpoint/2010/main" val="284185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059094-E187-E13F-6A79-99F94744AB35}"/>
              </a:ext>
            </a:extLst>
          </p:cNvPr>
          <p:cNvSpPr/>
          <p:nvPr/>
        </p:nvSpPr>
        <p:spPr>
          <a:xfrm>
            <a:off x="0" y="0"/>
            <a:ext cx="12192000" cy="762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BBF09370-122E-2C7E-6659-089A873E6484}"/>
              </a:ext>
            </a:extLst>
          </p:cNvPr>
          <p:cNvSpPr txBox="1"/>
          <p:nvPr/>
        </p:nvSpPr>
        <p:spPr>
          <a:xfrm>
            <a:off x="571500" y="254000"/>
            <a:ext cx="11049000" cy="200055"/>
          </a:xfrm>
          <a:prstGeom prst="rect">
            <a:avLst/>
          </a:prstGeom>
          <a:noFill/>
        </p:spPr>
        <p:txBody>
          <a:bodyPr vert="horz" lIns="0" tIns="0" rtlCol="0">
            <a:spAutoFit/>
          </a:bodyPr>
          <a:lstStyle/>
          <a:p>
            <a:r>
              <a:rPr lang="en-IN" sz="1000" b="1">
                <a:solidFill>
                  <a:srgbClr val="2563EB"/>
                </a:solidFill>
                <a:latin typeface="Segoe UI" panose="020B0502040204020203" pitchFamily="34" charset="0"/>
              </a:rPr>
              <a:t>03 | PROJECT OBJECTIVES</a:t>
            </a:r>
          </a:p>
        </p:txBody>
      </p:sp>
      <p:sp>
        <p:nvSpPr>
          <p:cNvPr id="4" name="TextBox 3">
            <a:extLst>
              <a:ext uri="{FF2B5EF4-FFF2-40B4-BE49-F238E27FC236}">
                <a16:creationId xmlns:a16="http://schemas.microsoft.com/office/drawing/2014/main" id="{8C4E91EB-3733-47FF-E49F-A04285D4C7E3}"/>
              </a:ext>
            </a:extLst>
          </p:cNvPr>
          <p:cNvSpPr txBox="1"/>
          <p:nvPr/>
        </p:nvSpPr>
        <p:spPr>
          <a:xfrm>
            <a:off x="571500" y="508000"/>
            <a:ext cx="11049000" cy="384721"/>
          </a:xfrm>
          <a:prstGeom prst="rect">
            <a:avLst/>
          </a:prstGeom>
          <a:noFill/>
        </p:spPr>
        <p:txBody>
          <a:bodyPr vert="horz" lIns="0" tIns="0" rtlCol="0">
            <a:spAutoFit/>
          </a:bodyPr>
          <a:lstStyle/>
          <a:p>
            <a:r>
              <a:rPr lang="en-US" sz="2200" b="1">
                <a:solidFill>
                  <a:srgbClr val="1A365D"/>
                </a:solidFill>
                <a:latin typeface="Segoe UI" panose="020B0502040204020203" pitchFamily="34" charset="0"/>
              </a:rPr>
              <a:t>Key Goals and Architectural Milestones</a:t>
            </a:r>
            <a:endParaRPr lang="en-IN" sz="2200" b="1">
              <a:solidFill>
                <a:srgbClr val="1A365D"/>
              </a:solidFill>
              <a:latin typeface="Segoe UI" panose="020B0502040204020203" pitchFamily="34" charset="0"/>
            </a:endParaRPr>
          </a:p>
        </p:txBody>
      </p:sp>
      <p:sp>
        <p:nvSpPr>
          <p:cNvPr id="5" name="Rectangle 4">
            <a:extLst>
              <a:ext uri="{FF2B5EF4-FFF2-40B4-BE49-F238E27FC236}">
                <a16:creationId xmlns:a16="http://schemas.microsoft.com/office/drawing/2014/main" id="{DC114E51-0EC8-3AF8-03EF-A0B7051FC4C7}"/>
              </a:ext>
            </a:extLst>
          </p:cNvPr>
          <p:cNvSpPr/>
          <p:nvPr/>
        </p:nvSpPr>
        <p:spPr>
          <a:xfrm>
            <a:off x="571500" y="1117600"/>
            <a:ext cx="11049000" cy="19050"/>
          </a:xfrm>
          <a:prstGeom prst="rect">
            <a:avLst/>
          </a:prstGeom>
          <a:solidFill>
            <a:srgbClr val="CBD5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CDC01646-00C3-2512-8CF3-A77A854395D8}"/>
              </a:ext>
            </a:extLst>
          </p:cNvPr>
          <p:cNvSpPr txBox="1"/>
          <p:nvPr/>
        </p:nvSpPr>
        <p:spPr>
          <a:xfrm>
            <a:off x="571500" y="6477000"/>
            <a:ext cx="11049000" cy="184666"/>
          </a:xfrm>
          <a:prstGeom prst="rect">
            <a:avLst/>
          </a:prstGeom>
          <a:noFill/>
        </p:spPr>
        <p:txBody>
          <a:bodyPr vert="horz" lIns="0" tIns="0" rtlCol="0">
            <a:spAutoFit/>
          </a:bodyPr>
          <a:lstStyle/>
          <a:p>
            <a:r>
              <a:rPr lang="en-IN" sz="900">
                <a:solidFill>
                  <a:srgbClr val="64748B"/>
                </a:solidFill>
                <a:latin typeface="Segoe UI" panose="020B0502040204020203" pitchFamily="34" charset="0"/>
              </a:rPr>
              <a:t>Student Record Management System  |  College CA2 Project  |  Nirmal Kumar (12201458)</a:t>
            </a:r>
          </a:p>
        </p:txBody>
      </p:sp>
      <p:sp>
        <p:nvSpPr>
          <p:cNvPr id="7" name="Rectangle 6">
            <a:extLst>
              <a:ext uri="{FF2B5EF4-FFF2-40B4-BE49-F238E27FC236}">
                <a16:creationId xmlns:a16="http://schemas.microsoft.com/office/drawing/2014/main" id="{32CE6BAC-0875-8314-3A27-80F56E93823B}"/>
              </a:ext>
            </a:extLst>
          </p:cNvPr>
          <p:cNvSpPr/>
          <p:nvPr/>
        </p:nvSpPr>
        <p:spPr>
          <a:xfrm>
            <a:off x="571500" y="1333500"/>
            <a:ext cx="5334000" cy="2286000"/>
          </a:xfrm>
          <a:prstGeom prst="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7A2297A4-33B7-0EB4-CE4A-B0F389986CED}"/>
              </a:ext>
            </a:extLst>
          </p:cNvPr>
          <p:cNvSpPr/>
          <p:nvPr/>
        </p:nvSpPr>
        <p:spPr>
          <a:xfrm>
            <a:off x="571500" y="1333500"/>
            <a:ext cx="63500" cy="22860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6966A7B5-D771-9C92-66C6-A97AACFF4C72}"/>
              </a:ext>
            </a:extLst>
          </p:cNvPr>
          <p:cNvSpPr txBox="1"/>
          <p:nvPr/>
        </p:nvSpPr>
        <p:spPr>
          <a:xfrm>
            <a:off x="774700" y="1511300"/>
            <a:ext cx="4927600" cy="253916"/>
          </a:xfrm>
          <a:prstGeom prst="rect">
            <a:avLst/>
          </a:prstGeom>
          <a:noFill/>
        </p:spPr>
        <p:txBody>
          <a:bodyPr vert="horz" wrap="square" lIns="0" tIns="0" rtlCol="0">
            <a:spAutoFit/>
          </a:bodyPr>
          <a:lstStyle/>
          <a:p>
            <a:r>
              <a:rPr lang="en-IN" sz="1350" b="1">
                <a:solidFill>
                  <a:srgbClr val="0F172A"/>
                </a:solidFill>
                <a:latin typeface="Segoe UI" panose="020B0502040204020203" pitchFamily="34" charset="0"/>
              </a:rPr>
              <a:t>1. Complete CRUD Functionality</a:t>
            </a:r>
          </a:p>
        </p:txBody>
      </p:sp>
      <p:sp>
        <p:nvSpPr>
          <p:cNvPr id="10" name="TextBox 9">
            <a:extLst>
              <a:ext uri="{FF2B5EF4-FFF2-40B4-BE49-F238E27FC236}">
                <a16:creationId xmlns:a16="http://schemas.microsoft.com/office/drawing/2014/main" id="{F0D05AF9-9E27-262C-3799-BA3503041128}"/>
              </a:ext>
            </a:extLst>
          </p:cNvPr>
          <p:cNvSpPr txBox="1"/>
          <p:nvPr/>
        </p:nvSpPr>
        <p:spPr>
          <a:xfrm>
            <a:off x="774700" y="1892300"/>
            <a:ext cx="4927600" cy="892552"/>
          </a:xfrm>
          <a:prstGeom prst="rect">
            <a:avLst/>
          </a:prstGeom>
          <a:noFill/>
        </p:spPr>
        <p:txBody>
          <a:bodyPr vert="horz" wrap="square" lIns="0" tIns="0" rtlCol="0">
            <a:spAutoFit/>
          </a:bodyPr>
          <a:lstStyle/>
          <a:p>
            <a:r>
              <a:rPr lang="en-US" sz="1100">
                <a:solidFill>
                  <a:srgbClr val="1E293B"/>
                </a:solidFill>
                <a:latin typeface="Segoe UI" panose="020B0502040204020203" pitchFamily="34" charset="0"/>
              </a:rPr>
              <a:t>Deliver complete Create, Read, Update, and Delete operations for student academic profiles.
Ensure instantaneous user interface updates with automated HTTP redirects and flash alerts.</a:t>
            </a:r>
            <a:endParaRPr lang="en-IN" sz="1100">
              <a:solidFill>
                <a:srgbClr val="1E293B"/>
              </a:solidFill>
              <a:latin typeface="Segoe UI" panose="020B0502040204020203" pitchFamily="34" charset="0"/>
            </a:endParaRPr>
          </a:p>
        </p:txBody>
      </p:sp>
      <p:sp>
        <p:nvSpPr>
          <p:cNvPr id="11" name="Rectangle 10">
            <a:extLst>
              <a:ext uri="{FF2B5EF4-FFF2-40B4-BE49-F238E27FC236}">
                <a16:creationId xmlns:a16="http://schemas.microsoft.com/office/drawing/2014/main" id="{F5BC4026-0BC7-A30E-1AEF-EB631B37D4FE}"/>
              </a:ext>
            </a:extLst>
          </p:cNvPr>
          <p:cNvSpPr/>
          <p:nvPr/>
        </p:nvSpPr>
        <p:spPr>
          <a:xfrm>
            <a:off x="6286500" y="1333500"/>
            <a:ext cx="5334000" cy="2286000"/>
          </a:xfrm>
          <a:prstGeom prst="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A56E9051-F178-29BA-FA79-70B92C963CF6}"/>
              </a:ext>
            </a:extLst>
          </p:cNvPr>
          <p:cNvSpPr/>
          <p:nvPr/>
        </p:nvSpPr>
        <p:spPr>
          <a:xfrm>
            <a:off x="6286500" y="1333500"/>
            <a:ext cx="63500" cy="22860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A486582E-F1E4-B7C4-ED31-6C1E8B3B0608}"/>
              </a:ext>
            </a:extLst>
          </p:cNvPr>
          <p:cNvSpPr txBox="1"/>
          <p:nvPr/>
        </p:nvSpPr>
        <p:spPr>
          <a:xfrm>
            <a:off x="6489700" y="1511300"/>
            <a:ext cx="4927600" cy="253916"/>
          </a:xfrm>
          <a:prstGeom prst="rect">
            <a:avLst/>
          </a:prstGeom>
          <a:noFill/>
        </p:spPr>
        <p:txBody>
          <a:bodyPr vert="horz" wrap="square" lIns="0" tIns="0" rtlCol="0">
            <a:spAutoFit/>
          </a:bodyPr>
          <a:lstStyle/>
          <a:p>
            <a:r>
              <a:rPr lang="en-US" sz="1350" b="1">
                <a:solidFill>
                  <a:srgbClr val="0F172A"/>
                </a:solidFill>
                <a:latin typeface="Segoe UI" panose="020B0502040204020203" pitchFamily="34" charset="0"/>
              </a:rPr>
              <a:t>2. Strict Data Integrity and Validation</a:t>
            </a:r>
            <a:endParaRPr lang="en-IN" sz="1350" b="1">
              <a:solidFill>
                <a:srgbClr val="0F172A"/>
              </a:solidFill>
              <a:latin typeface="Segoe UI" panose="020B0502040204020203" pitchFamily="34" charset="0"/>
            </a:endParaRPr>
          </a:p>
        </p:txBody>
      </p:sp>
      <p:sp>
        <p:nvSpPr>
          <p:cNvPr id="14" name="TextBox 13">
            <a:extLst>
              <a:ext uri="{FF2B5EF4-FFF2-40B4-BE49-F238E27FC236}">
                <a16:creationId xmlns:a16="http://schemas.microsoft.com/office/drawing/2014/main" id="{B2E34789-030D-CC6A-7233-F618C0D39429}"/>
              </a:ext>
            </a:extLst>
          </p:cNvPr>
          <p:cNvSpPr txBox="1"/>
          <p:nvPr/>
        </p:nvSpPr>
        <p:spPr>
          <a:xfrm>
            <a:off x="6489700" y="1892300"/>
            <a:ext cx="4927600" cy="892552"/>
          </a:xfrm>
          <a:prstGeom prst="rect">
            <a:avLst/>
          </a:prstGeom>
          <a:noFill/>
        </p:spPr>
        <p:txBody>
          <a:bodyPr vert="horz" wrap="square" lIns="0" tIns="0" rtlCol="0">
            <a:spAutoFit/>
          </a:bodyPr>
          <a:lstStyle/>
          <a:p>
            <a:r>
              <a:rPr lang="en-US" sz="1100">
                <a:solidFill>
                  <a:srgbClr val="1E293B"/>
                </a:solidFill>
                <a:latin typeface="Segoe UI" panose="020B0502040204020203" pitchFamily="34" charset="0"/>
              </a:rPr>
              <a:t>Enforce unique registration numbers at both application logic and MongoDB index layers.
Validate CGPA bounds (0.00 to 10.00), semester limits (1 to 8), and institutional email syntax.</a:t>
            </a:r>
            <a:endParaRPr lang="en-IN" sz="1100">
              <a:solidFill>
                <a:srgbClr val="1E293B"/>
              </a:solidFill>
              <a:latin typeface="Segoe UI" panose="020B0502040204020203" pitchFamily="34" charset="0"/>
            </a:endParaRPr>
          </a:p>
        </p:txBody>
      </p:sp>
      <p:sp>
        <p:nvSpPr>
          <p:cNvPr id="15" name="Rectangle 14">
            <a:extLst>
              <a:ext uri="{FF2B5EF4-FFF2-40B4-BE49-F238E27FC236}">
                <a16:creationId xmlns:a16="http://schemas.microsoft.com/office/drawing/2014/main" id="{6F6BA834-7B87-92FB-3761-7D5C705F4C04}"/>
              </a:ext>
            </a:extLst>
          </p:cNvPr>
          <p:cNvSpPr/>
          <p:nvPr/>
        </p:nvSpPr>
        <p:spPr>
          <a:xfrm>
            <a:off x="571500" y="3873500"/>
            <a:ext cx="5334000" cy="2349500"/>
          </a:xfrm>
          <a:prstGeom prst="rect">
            <a:avLst/>
          </a:prstGeom>
          <a:solidFill>
            <a:srgbClr val="EFF6FF"/>
          </a:solidFill>
          <a:ln w="15240">
            <a:solidFill>
              <a:srgbClr val="93C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47795C6D-5793-3F0A-4594-CC9DBA097BEC}"/>
              </a:ext>
            </a:extLst>
          </p:cNvPr>
          <p:cNvSpPr/>
          <p:nvPr/>
        </p:nvSpPr>
        <p:spPr>
          <a:xfrm>
            <a:off x="571500" y="3873500"/>
            <a:ext cx="63500" cy="23495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038BEC5C-36EB-9CF8-F1F1-03C54CCADDB9}"/>
              </a:ext>
            </a:extLst>
          </p:cNvPr>
          <p:cNvSpPr txBox="1"/>
          <p:nvPr/>
        </p:nvSpPr>
        <p:spPr>
          <a:xfrm>
            <a:off x="774700" y="4051300"/>
            <a:ext cx="4927600" cy="253916"/>
          </a:xfrm>
          <a:prstGeom prst="rect">
            <a:avLst/>
          </a:prstGeom>
          <a:noFill/>
        </p:spPr>
        <p:txBody>
          <a:bodyPr vert="horz" wrap="square" lIns="0" tIns="0" rtlCol="0">
            <a:spAutoFit/>
          </a:bodyPr>
          <a:lstStyle/>
          <a:p>
            <a:r>
              <a:rPr lang="en-US" sz="1350" b="1">
                <a:solidFill>
                  <a:srgbClr val="0F172A"/>
                </a:solidFill>
                <a:latin typeface="Segoe UI" panose="020B0502040204020203" pitchFamily="34" charset="0"/>
              </a:rPr>
              <a:t>3. Real-Time Search and Dashboard</a:t>
            </a:r>
            <a:endParaRPr lang="en-IN" sz="1350" b="1">
              <a:solidFill>
                <a:srgbClr val="0F172A"/>
              </a:solidFill>
              <a:latin typeface="Segoe UI" panose="020B0502040204020203" pitchFamily="34" charset="0"/>
            </a:endParaRPr>
          </a:p>
        </p:txBody>
      </p:sp>
      <p:sp>
        <p:nvSpPr>
          <p:cNvPr id="18" name="TextBox 17">
            <a:extLst>
              <a:ext uri="{FF2B5EF4-FFF2-40B4-BE49-F238E27FC236}">
                <a16:creationId xmlns:a16="http://schemas.microsoft.com/office/drawing/2014/main" id="{AFC4ED2D-ED52-1008-05FA-B4FDACB66DDD}"/>
              </a:ext>
            </a:extLst>
          </p:cNvPr>
          <p:cNvSpPr txBox="1"/>
          <p:nvPr/>
        </p:nvSpPr>
        <p:spPr>
          <a:xfrm>
            <a:off x="774700" y="4432300"/>
            <a:ext cx="4927600" cy="892552"/>
          </a:xfrm>
          <a:prstGeom prst="rect">
            <a:avLst/>
          </a:prstGeom>
          <a:noFill/>
        </p:spPr>
        <p:txBody>
          <a:bodyPr vert="horz" wrap="square" lIns="0" tIns="0" rtlCol="0">
            <a:spAutoFit/>
          </a:bodyPr>
          <a:lstStyle/>
          <a:p>
            <a:r>
              <a:rPr lang="en-US" sz="1100">
                <a:solidFill>
                  <a:srgbClr val="1E293B"/>
                </a:solidFill>
                <a:latin typeface="Segoe UI" panose="020B0502040204020203" pitchFamily="34" charset="0"/>
              </a:rPr>
              <a:t>Provide regex-powered live searching by registration number or student name.
Display dynamic analytics cards: Total Students, Average CGPA, Highest CGPA, and Active Courses.</a:t>
            </a:r>
            <a:endParaRPr lang="en-IN" sz="1100">
              <a:solidFill>
                <a:srgbClr val="1E293B"/>
              </a:solidFill>
              <a:latin typeface="Segoe UI" panose="020B0502040204020203" pitchFamily="34" charset="0"/>
            </a:endParaRPr>
          </a:p>
        </p:txBody>
      </p:sp>
      <p:sp>
        <p:nvSpPr>
          <p:cNvPr id="19" name="Rectangle 18">
            <a:extLst>
              <a:ext uri="{FF2B5EF4-FFF2-40B4-BE49-F238E27FC236}">
                <a16:creationId xmlns:a16="http://schemas.microsoft.com/office/drawing/2014/main" id="{DA29C281-7FA7-D513-5FC1-ECC17E43EE26}"/>
              </a:ext>
            </a:extLst>
          </p:cNvPr>
          <p:cNvSpPr/>
          <p:nvPr/>
        </p:nvSpPr>
        <p:spPr>
          <a:xfrm>
            <a:off x="6286500" y="3873500"/>
            <a:ext cx="5334000" cy="2349500"/>
          </a:xfrm>
          <a:prstGeom prst="rect">
            <a:avLst/>
          </a:prstGeom>
          <a:solidFill>
            <a:srgbClr val="EFF6FF"/>
          </a:solidFill>
          <a:ln w="15240">
            <a:solidFill>
              <a:srgbClr val="93C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118F86F3-2C4C-BC2D-981D-BAA6FFD03004}"/>
              </a:ext>
            </a:extLst>
          </p:cNvPr>
          <p:cNvSpPr/>
          <p:nvPr/>
        </p:nvSpPr>
        <p:spPr>
          <a:xfrm>
            <a:off x="6286500" y="3873500"/>
            <a:ext cx="63500" cy="23495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3BE4940A-E989-586E-8E4B-4AA28BBC131E}"/>
              </a:ext>
            </a:extLst>
          </p:cNvPr>
          <p:cNvSpPr txBox="1"/>
          <p:nvPr/>
        </p:nvSpPr>
        <p:spPr>
          <a:xfrm>
            <a:off x="6489700" y="4051300"/>
            <a:ext cx="4927600" cy="253916"/>
          </a:xfrm>
          <a:prstGeom prst="rect">
            <a:avLst/>
          </a:prstGeom>
          <a:noFill/>
        </p:spPr>
        <p:txBody>
          <a:bodyPr vert="horz" wrap="square" lIns="0" tIns="0" rtlCol="0">
            <a:spAutoFit/>
          </a:bodyPr>
          <a:lstStyle/>
          <a:p>
            <a:r>
              <a:rPr lang="en-IN" sz="1350" b="1">
                <a:solidFill>
                  <a:srgbClr val="0F172A"/>
                </a:solidFill>
                <a:latin typeface="Segoe UI" panose="020B0502040204020203" pitchFamily="34" charset="0"/>
              </a:rPr>
              <a:t>4. Production-Grade Configuration</a:t>
            </a:r>
          </a:p>
        </p:txBody>
      </p:sp>
      <p:sp>
        <p:nvSpPr>
          <p:cNvPr id="22" name="TextBox 21">
            <a:extLst>
              <a:ext uri="{FF2B5EF4-FFF2-40B4-BE49-F238E27FC236}">
                <a16:creationId xmlns:a16="http://schemas.microsoft.com/office/drawing/2014/main" id="{45348CA9-85B5-1D43-554A-D2B6B656142D}"/>
              </a:ext>
            </a:extLst>
          </p:cNvPr>
          <p:cNvSpPr txBox="1"/>
          <p:nvPr/>
        </p:nvSpPr>
        <p:spPr>
          <a:xfrm>
            <a:off x="6489700" y="4432300"/>
            <a:ext cx="4927600" cy="892552"/>
          </a:xfrm>
          <a:prstGeom prst="rect">
            <a:avLst/>
          </a:prstGeom>
          <a:noFill/>
        </p:spPr>
        <p:txBody>
          <a:bodyPr vert="horz" wrap="square" lIns="0" tIns="0" rtlCol="0">
            <a:spAutoFit/>
          </a:bodyPr>
          <a:lstStyle/>
          <a:p>
            <a:r>
              <a:rPr lang="en-IN" sz="1100">
                <a:solidFill>
                  <a:srgbClr val="1E293B"/>
                </a:solidFill>
                <a:latin typeface="Segoe UI" panose="020B0502040204020203" pitchFamily="34" charset="0"/>
              </a:rPr>
              <a:t>Isolate environment settings via .env and provide sample templates (.env.example).
Guarantee database fault tolerance with automatic connection recovery and ping monitoring.</a:t>
            </a:r>
          </a:p>
        </p:txBody>
      </p:sp>
    </p:spTree>
    <p:extLst>
      <p:ext uri="{BB962C8B-B14F-4D97-AF65-F5344CB8AC3E}">
        <p14:creationId xmlns:p14="http://schemas.microsoft.com/office/powerpoint/2010/main" val="1955012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144DCC-8D07-7CD4-87F9-469821103D0D}"/>
              </a:ext>
            </a:extLst>
          </p:cNvPr>
          <p:cNvSpPr/>
          <p:nvPr/>
        </p:nvSpPr>
        <p:spPr>
          <a:xfrm>
            <a:off x="0" y="0"/>
            <a:ext cx="12192000" cy="762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EE7A4A96-F966-9EAC-F04D-376CBA125F3A}"/>
              </a:ext>
            </a:extLst>
          </p:cNvPr>
          <p:cNvSpPr txBox="1"/>
          <p:nvPr/>
        </p:nvSpPr>
        <p:spPr>
          <a:xfrm>
            <a:off x="571500" y="254000"/>
            <a:ext cx="11049000" cy="200055"/>
          </a:xfrm>
          <a:prstGeom prst="rect">
            <a:avLst/>
          </a:prstGeom>
          <a:noFill/>
        </p:spPr>
        <p:txBody>
          <a:bodyPr vert="horz" lIns="0" tIns="0" rtlCol="0">
            <a:spAutoFit/>
          </a:bodyPr>
          <a:lstStyle/>
          <a:p>
            <a:r>
              <a:rPr lang="en-IN" sz="1000" b="1">
                <a:solidFill>
                  <a:srgbClr val="2563EB"/>
                </a:solidFill>
                <a:latin typeface="Segoe UI" panose="020B0502040204020203" pitchFamily="34" charset="0"/>
              </a:rPr>
              <a:t>04 | TECHNOLOGY STACK</a:t>
            </a:r>
          </a:p>
        </p:txBody>
      </p:sp>
      <p:sp>
        <p:nvSpPr>
          <p:cNvPr id="4" name="TextBox 3">
            <a:extLst>
              <a:ext uri="{FF2B5EF4-FFF2-40B4-BE49-F238E27FC236}">
                <a16:creationId xmlns:a16="http://schemas.microsoft.com/office/drawing/2014/main" id="{33FD5E96-BF1A-499C-9330-D4C9B140069F}"/>
              </a:ext>
            </a:extLst>
          </p:cNvPr>
          <p:cNvSpPr txBox="1"/>
          <p:nvPr/>
        </p:nvSpPr>
        <p:spPr>
          <a:xfrm>
            <a:off x="571500" y="508000"/>
            <a:ext cx="11049000" cy="384721"/>
          </a:xfrm>
          <a:prstGeom prst="rect">
            <a:avLst/>
          </a:prstGeom>
          <a:noFill/>
        </p:spPr>
        <p:txBody>
          <a:bodyPr vert="horz" lIns="0" tIns="0" rtlCol="0">
            <a:spAutoFit/>
          </a:bodyPr>
          <a:lstStyle/>
          <a:p>
            <a:r>
              <a:rPr lang="en-US" sz="2200" b="1">
                <a:solidFill>
                  <a:srgbClr val="1A365D"/>
                </a:solidFill>
                <a:latin typeface="Segoe UI" panose="020B0502040204020203" pitchFamily="34" charset="0"/>
              </a:rPr>
              <a:t>Technologies Used and Their Architectural Roles</a:t>
            </a:r>
            <a:endParaRPr lang="en-IN" sz="2200" b="1">
              <a:solidFill>
                <a:srgbClr val="1A365D"/>
              </a:solidFill>
              <a:latin typeface="Segoe UI" panose="020B0502040204020203" pitchFamily="34" charset="0"/>
            </a:endParaRPr>
          </a:p>
        </p:txBody>
      </p:sp>
      <p:sp>
        <p:nvSpPr>
          <p:cNvPr id="5" name="Rectangle 4">
            <a:extLst>
              <a:ext uri="{FF2B5EF4-FFF2-40B4-BE49-F238E27FC236}">
                <a16:creationId xmlns:a16="http://schemas.microsoft.com/office/drawing/2014/main" id="{C9A1E485-3A33-9BE1-F02F-C2B32FC3EA88}"/>
              </a:ext>
            </a:extLst>
          </p:cNvPr>
          <p:cNvSpPr/>
          <p:nvPr/>
        </p:nvSpPr>
        <p:spPr>
          <a:xfrm>
            <a:off x="571500" y="1117600"/>
            <a:ext cx="11049000" cy="19050"/>
          </a:xfrm>
          <a:prstGeom prst="rect">
            <a:avLst/>
          </a:prstGeom>
          <a:solidFill>
            <a:srgbClr val="CBD5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14E077C9-A3EE-FD08-4A1E-A3FDC672375B}"/>
              </a:ext>
            </a:extLst>
          </p:cNvPr>
          <p:cNvSpPr txBox="1"/>
          <p:nvPr/>
        </p:nvSpPr>
        <p:spPr>
          <a:xfrm>
            <a:off x="571500" y="6477000"/>
            <a:ext cx="11049000" cy="184666"/>
          </a:xfrm>
          <a:prstGeom prst="rect">
            <a:avLst/>
          </a:prstGeom>
          <a:noFill/>
        </p:spPr>
        <p:txBody>
          <a:bodyPr vert="horz" lIns="0" tIns="0" rtlCol="0">
            <a:spAutoFit/>
          </a:bodyPr>
          <a:lstStyle/>
          <a:p>
            <a:r>
              <a:rPr lang="en-IN" sz="900">
                <a:solidFill>
                  <a:srgbClr val="64748B"/>
                </a:solidFill>
                <a:latin typeface="Segoe UI" panose="020B0502040204020203" pitchFamily="34" charset="0"/>
              </a:rPr>
              <a:t>Student Record Management System  |  College CA2 Project  |  Nirmal Kumar (12201458)</a:t>
            </a:r>
          </a:p>
        </p:txBody>
      </p:sp>
      <p:sp>
        <p:nvSpPr>
          <p:cNvPr id="7" name="Rectangle 6">
            <a:extLst>
              <a:ext uri="{FF2B5EF4-FFF2-40B4-BE49-F238E27FC236}">
                <a16:creationId xmlns:a16="http://schemas.microsoft.com/office/drawing/2014/main" id="{6B0D3951-09E5-FA8D-0594-D09487BDF1D8}"/>
              </a:ext>
            </a:extLst>
          </p:cNvPr>
          <p:cNvSpPr/>
          <p:nvPr/>
        </p:nvSpPr>
        <p:spPr>
          <a:xfrm>
            <a:off x="571500" y="1333500"/>
            <a:ext cx="5334000" cy="2286000"/>
          </a:xfrm>
          <a:prstGeom prst="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BE391C8E-7B1F-80BC-7474-984BF40EFEBA}"/>
              </a:ext>
            </a:extLst>
          </p:cNvPr>
          <p:cNvSpPr/>
          <p:nvPr/>
        </p:nvSpPr>
        <p:spPr>
          <a:xfrm>
            <a:off x="571500" y="1333500"/>
            <a:ext cx="63500" cy="22860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1B99CC1E-F2B5-F3E1-C30B-E4852E7F1895}"/>
              </a:ext>
            </a:extLst>
          </p:cNvPr>
          <p:cNvSpPr txBox="1"/>
          <p:nvPr/>
        </p:nvSpPr>
        <p:spPr>
          <a:xfrm>
            <a:off x="774700" y="1511300"/>
            <a:ext cx="4927600" cy="253916"/>
          </a:xfrm>
          <a:prstGeom prst="rect">
            <a:avLst/>
          </a:prstGeom>
          <a:noFill/>
        </p:spPr>
        <p:txBody>
          <a:bodyPr vert="horz" wrap="square" lIns="0" tIns="0" rtlCol="0">
            <a:spAutoFit/>
          </a:bodyPr>
          <a:lstStyle/>
          <a:p>
            <a:r>
              <a:rPr lang="en-IN" sz="1350" b="1">
                <a:solidFill>
                  <a:srgbClr val="0F172A"/>
                </a:solidFill>
                <a:latin typeface="Segoe UI" panose="020B0502040204020203" pitchFamily="34" charset="0"/>
              </a:rPr>
              <a:t>Python 3.10  (Core Backend)</a:t>
            </a:r>
          </a:p>
        </p:txBody>
      </p:sp>
      <p:sp>
        <p:nvSpPr>
          <p:cNvPr id="10" name="TextBox 9">
            <a:extLst>
              <a:ext uri="{FF2B5EF4-FFF2-40B4-BE49-F238E27FC236}">
                <a16:creationId xmlns:a16="http://schemas.microsoft.com/office/drawing/2014/main" id="{3E39E81A-A048-1584-9CD4-93EB0A6FC27A}"/>
              </a:ext>
            </a:extLst>
          </p:cNvPr>
          <p:cNvSpPr txBox="1"/>
          <p:nvPr/>
        </p:nvSpPr>
        <p:spPr>
          <a:xfrm>
            <a:off x="774700" y="1892300"/>
            <a:ext cx="4927600" cy="892552"/>
          </a:xfrm>
          <a:prstGeom prst="rect">
            <a:avLst/>
          </a:prstGeom>
          <a:noFill/>
        </p:spPr>
        <p:txBody>
          <a:bodyPr vert="horz" wrap="square" lIns="0" tIns="0" rtlCol="0">
            <a:spAutoFit/>
          </a:bodyPr>
          <a:lstStyle/>
          <a:p>
            <a:r>
              <a:rPr lang="en-US" sz="1100">
                <a:solidFill>
                  <a:srgbClr val="1E293B"/>
                </a:solidFill>
                <a:latin typeface="Segoe UI" panose="020B0502040204020203" pitchFamily="34" charset="0"/>
              </a:rPr>
              <a:t>Core programming language powering backend business logic and input sanitation.
Handles mathematical rounding, regex validation, and environment variable parsing.</a:t>
            </a:r>
            <a:endParaRPr lang="en-IN" sz="1100">
              <a:solidFill>
                <a:srgbClr val="1E293B"/>
              </a:solidFill>
              <a:latin typeface="Segoe UI" panose="020B0502040204020203" pitchFamily="34" charset="0"/>
            </a:endParaRPr>
          </a:p>
        </p:txBody>
      </p:sp>
      <p:sp>
        <p:nvSpPr>
          <p:cNvPr id="11" name="Rectangle 10">
            <a:extLst>
              <a:ext uri="{FF2B5EF4-FFF2-40B4-BE49-F238E27FC236}">
                <a16:creationId xmlns:a16="http://schemas.microsoft.com/office/drawing/2014/main" id="{2BC64838-A827-09AF-A550-4D4172264E83}"/>
              </a:ext>
            </a:extLst>
          </p:cNvPr>
          <p:cNvSpPr/>
          <p:nvPr/>
        </p:nvSpPr>
        <p:spPr>
          <a:xfrm>
            <a:off x="6286500" y="1333500"/>
            <a:ext cx="5334000" cy="2286000"/>
          </a:xfrm>
          <a:prstGeom prst="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6CA4A9A0-5938-0B33-0DA5-10AE6673C81C}"/>
              </a:ext>
            </a:extLst>
          </p:cNvPr>
          <p:cNvSpPr/>
          <p:nvPr/>
        </p:nvSpPr>
        <p:spPr>
          <a:xfrm>
            <a:off x="6286500" y="1333500"/>
            <a:ext cx="63500" cy="22860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5E50718A-A395-8CB1-F81F-FB521B84AF0A}"/>
              </a:ext>
            </a:extLst>
          </p:cNvPr>
          <p:cNvSpPr txBox="1"/>
          <p:nvPr/>
        </p:nvSpPr>
        <p:spPr>
          <a:xfrm>
            <a:off x="6489700" y="1511300"/>
            <a:ext cx="4927600" cy="253916"/>
          </a:xfrm>
          <a:prstGeom prst="rect">
            <a:avLst/>
          </a:prstGeom>
          <a:noFill/>
        </p:spPr>
        <p:txBody>
          <a:bodyPr vert="horz" wrap="square" lIns="0" tIns="0" rtlCol="0">
            <a:spAutoFit/>
          </a:bodyPr>
          <a:lstStyle/>
          <a:p>
            <a:r>
              <a:rPr lang="en-US" sz="1350" b="1">
                <a:solidFill>
                  <a:srgbClr val="0F172A"/>
                </a:solidFill>
                <a:latin typeface="Segoe UI" panose="020B0502040204020203" pitchFamily="34" charset="0"/>
              </a:rPr>
              <a:t>Flask 3.1  (WSGI Web Framework)</a:t>
            </a:r>
            <a:endParaRPr lang="en-IN" sz="1350" b="1">
              <a:solidFill>
                <a:srgbClr val="0F172A"/>
              </a:solidFill>
              <a:latin typeface="Segoe UI" panose="020B0502040204020203" pitchFamily="34" charset="0"/>
            </a:endParaRPr>
          </a:p>
        </p:txBody>
      </p:sp>
      <p:sp>
        <p:nvSpPr>
          <p:cNvPr id="14" name="TextBox 13">
            <a:extLst>
              <a:ext uri="{FF2B5EF4-FFF2-40B4-BE49-F238E27FC236}">
                <a16:creationId xmlns:a16="http://schemas.microsoft.com/office/drawing/2014/main" id="{955081BB-2463-636A-9807-CE0B9A0860C7}"/>
              </a:ext>
            </a:extLst>
          </p:cNvPr>
          <p:cNvSpPr txBox="1"/>
          <p:nvPr/>
        </p:nvSpPr>
        <p:spPr>
          <a:xfrm>
            <a:off x="6489700" y="1892300"/>
            <a:ext cx="4927600" cy="892552"/>
          </a:xfrm>
          <a:prstGeom prst="rect">
            <a:avLst/>
          </a:prstGeom>
          <a:noFill/>
        </p:spPr>
        <p:txBody>
          <a:bodyPr vert="horz" wrap="square" lIns="0" tIns="0" rtlCol="0">
            <a:spAutoFit/>
          </a:bodyPr>
          <a:lstStyle/>
          <a:p>
            <a:r>
              <a:rPr lang="en-IN" sz="1100">
                <a:solidFill>
                  <a:srgbClr val="1E293B"/>
                </a:solidFill>
                <a:latin typeface="Segoe UI" panose="020B0502040204020203" pitchFamily="34" charset="0"/>
              </a:rPr>
              <a:t>Lightweight WSGI framework handling RESTful routing (@app.route decorators).
Manages Jinja2 HTML rendering, session cookies, and contextual flash alert notifications.</a:t>
            </a:r>
          </a:p>
        </p:txBody>
      </p:sp>
      <p:sp>
        <p:nvSpPr>
          <p:cNvPr id="15" name="Rectangle 14">
            <a:extLst>
              <a:ext uri="{FF2B5EF4-FFF2-40B4-BE49-F238E27FC236}">
                <a16:creationId xmlns:a16="http://schemas.microsoft.com/office/drawing/2014/main" id="{04EE0783-9409-5CD2-ED70-00139A37AA30}"/>
              </a:ext>
            </a:extLst>
          </p:cNvPr>
          <p:cNvSpPr/>
          <p:nvPr/>
        </p:nvSpPr>
        <p:spPr>
          <a:xfrm>
            <a:off x="571500" y="3873500"/>
            <a:ext cx="5334000" cy="2349500"/>
          </a:xfrm>
          <a:prstGeom prst="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2C97080F-DECD-0F49-DD47-96BD78E5DFBF}"/>
              </a:ext>
            </a:extLst>
          </p:cNvPr>
          <p:cNvSpPr/>
          <p:nvPr/>
        </p:nvSpPr>
        <p:spPr>
          <a:xfrm>
            <a:off x="571500" y="3873500"/>
            <a:ext cx="63500" cy="23495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204D2B74-D752-9C0A-B671-5855853B37DD}"/>
              </a:ext>
            </a:extLst>
          </p:cNvPr>
          <p:cNvSpPr txBox="1"/>
          <p:nvPr/>
        </p:nvSpPr>
        <p:spPr>
          <a:xfrm>
            <a:off x="774700" y="4051300"/>
            <a:ext cx="4927600" cy="253916"/>
          </a:xfrm>
          <a:prstGeom prst="rect">
            <a:avLst/>
          </a:prstGeom>
          <a:noFill/>
        </p:spPr>
        <p:txBody>
          <a:bodyPr vert="horz" wrap="square" lIns="0" tIns="0" rtlCol="0">
            <a:spAutoFit/>
          </a:bodyPr>
          <a:lstStyle/>
          <a:p>
            <a:r>
              <a:rPr lang="en-US" sz="1350" b="1">
                <a:solidFill>
                  <a:srgbClr val="0F172A"/>
                </a:solidFill>
                <a:latin typeface="Segoe UI" panose="020B0502040204020203" pitchFamily="34" charset="0"/>
              </a:rPr>
              <a:t>MongoDB and PyMongo 4.18  (Database Layer)</a:t>
            </a:r>
            <a:endParaRPr lang="en-IN" sz="1350" b="1">
              <a:solidFill>
                <a:srgbClr val="0F172A"/>
              </a:solidFill>
              <a:latin typeface="Segoe UI" panose="020B0502040204020203" pitchFamily="34" charset="0"/>
            </a:endParaRPr>
          </a:p>
        </p:txBody>
      </p:sp>
      <p:sp>
        <p:nvSpPr>
          <p:cNvPr id="18" name="TextBox 17">
            <a:extLst>
              <a:ext uri="{FF2B5EF4-FFF2-40B4-BE49-F238E27FC236}">
                <a16:creationId xmlns:a16="http://schemas.microsoft.com/office/drawing/2014/main" id="{822FE482-CE3D-C358-2E33-AAAF7E817C43}"/>
              </a:ext>
            </a:extLst>
          </p:cNvPr>
          <p:cNvSpPr txBox="1"/>
          <p:nvPr/>
        </p:nvSpPr>
        <p:spPr>
          <a:xfrm>
            <a:off x="774700" y="4432300"/>
            <a:ext cx="4927600" cy="723275"/>
          </a:xfrm>
          <a:prstGeom prst="rect">
            <a:avLst/>
          </a:prstGeom>
          <a:noFill/>
        </p:spPr>
        <p:txBody>
          <a:bodyPr vert="horz" wrap="square" lIns="0" tIns="0" rtlCol="0">
            <a:spAutoFit/>
          </a:bodyPr>
          <a:lstStyle/>
          <a:p>
            <a:r>
              <a:rPr lang="en-US" sz="1100">
                <a:solidFill>
                  <a:srgbClr val="1E293B"/>
                </a:solidFill>
                <a:latin typeface="Segoe UI" panose="020B0502040204020203" pitchFamily="34" charset="0"/>
              </a:rPr>
              <a:t>High-throughput NoSQL document database storing BSON student records.
PyMongo driver provides connection pooling, CRUD queries, and unique index enforcement.</a:t>
            </a:r>
            <a:endParaRPr lang="en-IN" sz="1100">
              <a:solidFill>
                <a:srgbClr val="1E293B"/>
              </a:solidFill>
              <a:latin typeface="Segoe UI" panose="020B0502040204020203" pitchFamily="34" charset="0"/>
            </a:endParaRPr>
          </a:p>
        </p:txBody>
      </p:sp>
      <p:sp>
        <p:nvSpPr>
          <p:cNvPr id="19" name="Rectangle 18">
            <a:extLst>
              <a:ext uri="{FF2B5EF4-FFF2-40B4-BE49-F238E27FC236}">
                <a16:creationId xmlns:a16="http://schemas.microsoft.com/office/drawing/2014/main" id="{F3EA9F45-3221-0EAE-BA53-92284D629E23}"/>
              </a:ext>
            </a:extLst>
          </p:cNvPr>
          <p:cNvSpPr/>
          <p:nvPr/>
        </p:nvSpPr>
        <p:spPr>
          <a:xfrm>
            <a:off x="6286500" y="3873500"/>
            <a:ext cx="5334000" cy="2349500"/>
          </a:xfrm>
          <a:prstGeom prst="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02A8072D-6E32-B8F9-A494-3E17690EB90E}"/>
              </a:ext>
            </a:extLst>
          </p:cNvPr>
          <p:cNvSpPr/>
          <p:nvPr/>
        </p:nvSpPr>
        <p:spPr>
          <a:xfrm>
            <a:off x="6286500" y="3873500"/>
            <a:ext cx="63500" cy="23495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80783F12-F410-EFE7-D5DC-CDE3356A2976}"/>
              </a:ext>
            </a:extLst>
          </p:cNvPr>
          <p:cNvSpPr txBox="1"/>
          <p:nvPr/>
        </p:nvSpPr>
        <p:spPr>
          <a:xfrm>
            <a:off x="6489700" y="4051300"/>
            <a:ext cx="4927600" cy="253916"/>
          </a:xfrm>
          <a:prstGeom prst="rect">
            <a:avLst/>
          </a:prstGeom>
          <a:noFill/>
        </p:spPr>
        <p:txBody>
          <a:bodyPr vert="horz" wrap="square" lIns="0" tIns="0" rtlCol="0">
            <a:spAutoFit/>
          </a:bodyPr>
          <a:lstStyle/>
          <a:p>
            <a:r>
              <a:rPr lang="en-US" sz="1350" b="1">
                <a:solidFill>
                  <a:srgbClr val="0F172A"/>
                </a:solidFill>
                <a:latin typeface="Segoe UI" panose="020B0502040204020203" pitchFamily="34" charset="0"/>
              </a:rPr>
              <a:t>HTML5 and Vanilla CSS3  (Frontend Layer)</a:t>
            </a:r>
            <a:endParaRPr lang="en-IN" sz="1350" b="1">
              <a:solidFill>
                <a:srgbClr val="0F172A"/>
              </a:solidFill>
              <a:latin typeface="Segoe UI" panose="020B0502040204020203" pitchFamily="34" charset="0"/>
            </a:endParaRPr>
          </a:p>
        </p:txBody>
      </p:sp>
      <p:sp>
        <p:nvSpPr>
          <p:cNvPr id="22" name="TextBox 21">
            <a:extLst>
              <a:ext uri="{FF2B5EF4-FFF2-40B4-BE49-F238E27FC236}">
                <a16:creationId xmlns:a16="http://schemas.microsoft.com/office/drawing/2014/main" id="{599DEE0E-6905-D940-8607-1337D3D76071}"/>
              </a:ext>
            </a:extLst>
          </p:cNvPr>
          <p:cNvSpPr txBox="1"/>
          <p:nvPr/>
        </p:nvSpPr>
        <p:spPr>
          <a:xfrm>
            <a:off x="6489700" y="4432300"/>
            <a:ext cx="4927600" cy="723275"/>
          </a:xfrm>
          <a:prstGeom prst="rect">
            <a:avLst/>
          </a:prstGeom>
          <a:noFill/>
        </p:spPr>
        <p:txBody>
          <a:bodyPr vert="horz" wrap="square" lIns="0" tIns="0" rtlCol="0">
            <a:spAutoFit/>
          </a:bodyPr>
          <a:lstStyle/>
          <a:p>
            <a:r>
              <a:rPr lang="en-US" sz="1100">
                <a:solidFill>
                  <a:srgbClr val="1E293B"/>
                </a:solidFill>
                <a:latin typeface="Segoe UI" panose="020B0502040204020203" pitchFamily="34" charset="0"/>
              </a:rPr>
              <a:t>Responsive, clean layout built with CSS custom properties and Google Fonts.
Features interactive data tables, CGPA performance badges, and confirmation modals.</a:t>
            </a:r>
            <a:endParaRPr lang="en-IN" sz="1100">
              <a:solidFill>
                <a:srgbClr val="1E293B"/>
              </a:solidFill>
              <a:latin typeface="Segoe UI" panose="020B0502040204020203" pitchFamily="34" charset="0"/>
            </a:endParaRPr>
          </a:p>
        </p:txBody>
      </p:sp>
    </p:spTree>
    <p:extLst>
      <p:ext uri="{BB962C8B-B14F-4D97-AF65-F5344CB8AC3E}">
        <p14:creationId xmlns:p14="http://schemas.microsoft.com/office/powerpoint/2010/main" val="3033565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EFED33-392D-F43A-7ACE-2B3CBBFE4F60}"/>
              </a:ext>
            </a:extLst>
          </p:cNvPr>
          <p:cNvSpPr/>
          <p:nvPr/>
        </p:nvSpPr>
        <p:spPr>
          <a:xfrm>
            <a:off x="0" y="0"/>
            <a:ext cx="12192000" cy="762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56505E9C-1D0C-E635-8B33-DD247B18678B}"/>
              </a:ext>
            </a:extLst>
          </p:cNvPr>
          <p:cNvSpPr txBox="1"/>
          <p:nvPr/>
        </p:nvSpPr>
        <p:spPr>
          <a:xfrm>
            <a:off x="571500" y="254000"/>
            <a:ext cx="11049000" cy="200055"/>
          </a:xfrm>
          <a:prstGeom prst="rect">
            <a:avLst/>
          </a:prstGeom>
          <a:noFill/>
        </p:spPr>
        <p:txBody>
          <a:bodyPr vert="horz" lIns="0" tIns="0" rtlCol="0">
            <a:spAutoFit/>
          </a:bodyPr>
          <a:lstStyle/>
          <a:p>
            <a:r>
              <a:rPr lang="en-IN" sz="1000" b="1">
                <a:solidFill>
                  <a:srgbClr val="2563EB"/>
                </a:solidFill>
                <a:latin typeface="Segoe UI" panose="020B0502040204020203" pitchFamily="34" charset="0"/>
              </a:rPr>
              <a:t>05 | SYSTEM ARCHITECTURE</a:t>
            </a:r>
          </a:p>
        </p:txBody>
      </p:sp>
      <p:sp>
        <p:nvSpPr>
          <p:cNvPr id="4" name="TextBox 3">
            <a:extLst>
              <a:ext uri="{FF2B5EF4-FFF2-40B4-BE49-F238E27FC236}">
                <a16:creationId xmlns:a16="http://schemas.microsoft.com/office/drawing/2014/main" id="{D143D9E7-B93A-6A4A-6CD6-73914A025333}"/>
              </a:ext>
            </a:extLst>
          </p:cNvPr>
          <p:cNvSpPr txBox="1"/>
          <p:nvPr/>
        </p:nvSpPr>
        <p:spPr>
          <a:xfrm>
            <a:off x="571500" y="508000"/>
            <a:ext cx="11049000" cy="384721"/>
          </a:xfrm>
          <a:prstGeom prst="rect">
            <a:avLst/>
          </a:prstGeom>
          <a:noFill/>
        </p:spPr>
        <p:txBody>
          <a:bodyPr vert="horz" lIns="0" tIns="0" rtlCol="0">
            <a:spAutoFit/>
          </a:bodyPr>
          <a:lstStyle/>
          <a:p>
            <a:r>
              <a:rPr lang="en-IN" sz="2200" b="1">
                <a:solidFill>
                  <a:srgbClr val="1A365D"/>
                </a:solidFill>
                <a:latin typeface="Segoe UI" panose="020B0502040204020203" pitchFamily="34" charset="0"/>
              </a:rPr>
              <a:t>Multi-Tier Web Application Workflow</a:t>
            </a:r>
          </a:p>
        </p:txBody>
      </p:sp>
      <p:sp>
        <p:nvSpPr>
          <p:cNvPr id="5" name="Rectangle 4">
            <a:extLst>
              <a:ext uri="{FF2B5EF4-FFF2-40B4-BE49-F238E27FC236}">
                <a16:creationId xmlns:a16="http://schemas.microsoft.com/office/drawing/2014/main" id="{53781FAF-02BE-02D1-A986-A6F6AE5E363B}"/>
              </a:ext>
            </a:extLst>
          </p:cNvPr>
          <p:cNvSpPr/>
          <p:nvPr/>
        </p:nvSpPr>
        <p:spPr>
          <a:xfrm>
            <a:off x="571500" y="1117600"/>
            <a:ext cx="11049000" cy="19050"/>
          </a:xfrm>
          <a:prstGeom prst="rect">
            <a:avLst/>
          </a:prstGeom>
          <a:solidFill>
            <a:srgbClr val="CBD5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7436A5B1-63ED-C066-9A9B-C703E6FAB8AE}"/>
              </a:ext>
            </a:extLst>
          </p:cNvPr>
          <p:cNvSpPr txBox="1"/>
          <p:nvPr/>
        </p:nvSpPr>
        <p:spPr>
          <a:xfrm>
            <a:off x="571500" y="6477000"/>
            <a:ext cx="11049000" cy="184666"/>
          </a:xfrm>
          <a:prstGeom prst="rect">
            <a:avLst/>
          </a:prstGeom>
          <a:noFill/>
        </p:spPr>
        <p:txBody>
          <a:bodyPr vert="horz" lIns="0" tIns="0" rtlCol="0">
            <a:spAutoFit/>
          </a:bodyPr>
          <a:lstStyle/>
          <a:p>
            <a:r>
              <a:rPr lang="en-IN" sz="900">
                <a:solidFill>
                  <a:srgbClr val="64748B"/>
                </a:solidFill>
                <a:latin typeface="Segoe UI" panose="020B0502040204020203" pitchFamily="34" charset="0"/>
              </a:rPr>
              <a:t>Student Record Management System  |  College CA2 Project  |  Nirmal Kumar (12201458)</a:t>
            </a:r>
          </a:p>
        </p:txBody>
      </p:sp>
      <p:sp>
        <p:nvSpPr>
          <p:cNvPr id="7" name="Rectangle 6">
            <a:extLst>
              <a:ext uri="{FF2B5EF4-FFF2-40B4-BE49-F238E27FC236}">
                <a16:creationId xmlns:a16="http://schemas.microsoft.com/office/drawing/2014/main" id="{F2337414-93BD-1E2F-1611-C81108172A54}"/>
              </a:ext>
            </a:extLst>
          </p:cNvPr>
          <p:cNvSpPr/>
          <p:nvPr/>
        </p:nvSpPr>
        <p:spPr>
          <a:xfrm>
            <a:off x="571500" y="1460500"/>
            <a:ext cx="2540000" cy="4762500"/>
          </a:xfrm>
          <a:prstGeom prst="rect">
            <a:avLst/>
          </a:prstGeom>
          <a:solidFill>
            <a:srgbClr val="EFF6FF"/>
          </a:solidFill>
          <a:ln w="15240">
            <a:solidFill>
              <a:srgbClr val="93C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9232F803-1F82-5F85-6D0E-CB36F017B289}"/>
              </a:ext>
            </a:extLst>
          </p:cNvPr>
          <p:cNvSpPr txBox="1"/>
          <p:nvPr/>
        </p:nvSpPr>
        <p:spPr>
          <a:xfrm>
            <a:off x="774700" y="1638300"/>
            <a:ext cx="2133600" cy="461665"/>
          </a:xfrm>
          <a:prstGeom prst="rect">
            <a:avLst/>
          </a:prstGeom>
          <a:noFill/>
        </p:spPr>
        <p:txBody>
          <a:bodyPr vert="horz" wrap="square" lIns="0" tIns="0" rtlCol="0">
            <a:spAutoFit/>
          </a:bodyPr>
          <a:lstStyle/>
          <a:p>
            <a:r>
              <a:rPr lang="en-IN" sz="1350" b="1">
                <a:solidFill>
                  <a:srgbClr val="0F172A"/>
                </a:solidFill>
                <a:latin typeface="Segoe UI" panose="020B0502040204020203" pitchFamily="34" charset="0"/>
              </a:rPr>
              <a:t>1. Client Layer
(Browser / UI)</a:t>
            </a:r>
          </a:p>
        </p:txBody>
      </p:sp>
      <p:sp>
        <p:nvSpPr>
          <p:cNvPr id="9" name="TextBox 8">
            <a:extLst>
              <a:ext uri="{FF2B5EF4-FFF2-40B4-BE49-F238E27FC236}">
                <a16:creationId xmlns:a16="http://schemas.microsoft.com/office/drawing/2014/main" id="{6EF0A7B1-0AD4-E573-3B93-65B1ACDCFC64}"/>
              </a:ext>
            </a:extLst>
          </p:cNvPr>
          <p:cNvSpPr txBox="1"/>
          <p:nvPr/>
        </p:nvSpPr>
        <p:spPr>
          <a:xfrm>
            <a:off x="774700" y="2019300"/>
            <a:ext cx="2133600" cy="2246769"/>
          </a:xfrm>
          <a:prstGeom prst="rect">
            <a:avLst/>
          </a:prstGeom>
          <a:noFill/>
        </p:spPr>
        <p:txBody>
          <a:bodyPr vert="horz" wrap="square" lIns="0" tIns="0" rtlCol="0">
            <a:spAutoFit/>
          </a:bodyPr>
          <a:lstStyle/>
          <a:p>
            <a:r>
              <a:rPr lang="en-US" sz="1100">
                <a:solidFill>
                  <a:srgbClr val="1E293B"/>
                </a:solidFill>
                <a:latin typeface="Segoe UI" panose="020B0502040204020203" pitchFamily="34" charset="0"/>
              </a:rPr>
              <a:t>HTML5 Templates:
(index, add, edit)
Responsive CSS3 Styling
User HTTP Requests
(GET and POST)
Form Submissions
JS Confirmation Alerts
Flash Notification Banners</a:t>
            </a:r>
            <a:endParaRPr lang="en-IN" sz="1100">
              <a:solidFill>
                <a:srgbClr val="1E293B"/>
              </a:solidFill>
              <a:latin typeface="Segoe UI" panose="020B0502040204020203" pitchFamily="34" charset="0"/>
            </a:endParaRPr>
          </a:p>
        </p:txBody>
      </p:sp>
      <p:sp>
        <p:nvSpPr>
          <p:cNvPr id="10" name="Arrow: Right 9">
            <a:extLst>
              <a:ext uri="{FF2B5EF4-FFF2-40B4-BE49-F238E27FC236}">
                <a16:creationId xmlns:a16="http://schemas.microsoft.com/office/drawing/2014/main" id="{577AA5FA-989B-0A2C-7478-C89B79B3970A}"/>
              </a:ext>
            </a:extLst>
          </p:cNvPr>
          <p:cNvSpPr/>
          <p:nvPr/>
        </p:nvSpPr>
        <p:spPr>
          <a:xfrm>
            <a:off x="3213100" y="3556000"/>
            <a:ext cx="406400" cy="279400"/>
          </a:xfrm>
          <a:prstGeom prst="rightArrow">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1CF0A123-6E04-156E-5F42-65469D44A539}"/>
              </a:ext>
            </a:extLst>
          </p:cNvPr>
          <p:cNvSpPr/>
          <p:nvPr/>
        </p:nvSpPr>
        <p:spPr>
          <a:xfrm>
            <a:off x="3746500" y="1460500"/>
            <a:ext cx="2540000" cy="4762500"/>
          </a:xfrm>
          <a:prstGeom prst="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B992B524-90DB-821A-EA10-015440574181}"/>
              </a:ext>
            </a:extLst>
          </p:cNvPr>
          <p:cNvSpPr txBox="1"/>
          <p:nvPr/>
        </p:nvSpPr>
        <p:spPr>
          <a:xfrm>
            <a:off x="3949700" y="1638300"/>
            <a:ext cx="2133600" cy="461665"/>
          </a:xfrm>
          <a:prstGeom prst="rect">
            <a:avLst/>
          </a:prstGeom>
          <a:noFill/>
        </p:spPr>
        <p:txBody>
          <a:bodyPr vert="horz" wrap="square" lIns="0" tIns="0" rtlCol="0">
            <a:spAutoFit/>
          </a:bodyPr>
          <a:lstStyle/>
          <a:p>
            <a:r>
              <a:rPr lang="da-DK" sz="1350" b="1">
                <a:solidFill>
                  <a:srgbClr val="0F172A"/>
                </a:solidFill>
                <a:latin typeface="Segoe UI" panose="020B0502040204020203" pitchFamily="34" charset="0"/>
              </a:rPr>
              <a:t>2. Server Layer
(Flask / Python)</a:t>
            </a:r>
            <a:endParaRPr lang="en-IN" sz="1350" b="1">
              <a:solidFill>
                <a:srgbClr val="0F172A"/>
              </a:solidFill>
              <a:latin typeface="Segoe UI" panose="020B0502040204020203" pitchFamily="34" charset="0"/>
            </a:endParaRPr>
          </a:p>
        </p:txBody>
      </p:sp>
      <p:sp>
        <p:nvSpPr>
          <p:cNvPr id="13" name="TextBox 12">
            <a:extLst>
              <a:ext uri="{FF2B5EF4-FFF2-40B4-BE49-F238E27FC236}">
                <a16:creationId xmlns:a16="http://schemas.microsoft.com/office/drawing/2014/main" id="{845922D5-5DE6-1EEF-1983-1650D597CF3E}"/>
              </a:ext>
            </a:extLst>
          </p:cNvPr>
          <p:cNvSpPr txBox="1"/>
          <p:nvPr/>
        </p:nvSpPr>
        <p:spPr>
          <a:xfrm>
            <a:off x="3949700" y="2019300"/>
            <a:ext cx="2133600" cy="2077492"/>
          </a:xfrm>
          <a:prstGeom prst="rect">
            <a:avLst/>
          </a:prstGeom>
          <a:noFill/>
        </p:spPr>
        <p:txBody>
          <a:bodyPr vert="horz" wrap="square" lIns="0" tIns="0" rtlCol="0">
            <a:spAutoFit/>
          </a:bodyPr>
          <a:lstStyle/>
          <a:p>
            <a:r>
              <a:rPr lang="en-IN" sz="1100">
                <a:solidFill>
                  <a:srgbClr val="1E293B"/>
                </a:solidFill>
                <a:latin typeface="Segoe UI" panose="020B0502040204020203" pitchFamily="34" charset="0"/>
              </a:rPr>
              <a:t>app.py Application
URL Routing Engine
(/, /add, /edit, /delete)
Regex Data Sanitizer
Duplicate Validator
Statistics Calculator
Jinja2 Template Engine</a:t>
            </a:r>
          </a:p>
        </p:txBody>
      </p:sp>
      <p:sp>
        <p:nvSpPr>
          <p:cNvPr id="14" name="Arrow: Right 13">
            <a:extLst>
              <a:ext uri="{FF2B5EF4-FFF2-40B4-BE49-F238E27FC236}">
                <a16:creationId xmlns:a16="http://schemas.microsoft.com/office/drawing/2014/main" id="{9C1ADE3C-C520-AE9F-ED6E-06EA595F0FC4}"/>
              </a:ext>
            </a:extLst>
          </p:cNvPr>
          <p:cNvSpPr/>
          <p:nvPr/>
        </p:nvSpPr>
        <p:spPr>
          <a:xfrm>
            <a:off x="6388100" y="3556000"/>
            <a:ext cx="406400" cy="279400"/>
          </a:xfrm>
          <a:prstGeom prst="rightArrow">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8E2E3A90-8C9F-87A8-BB86-BBDA9D802876}"/>
              </a:ext>
            </a:extLst>
          </p:cNvPr>
          <p:cNvSpPr/>
          <p:nvPr/>
        </p:nvSpPr>
        <p:spPr>
          <a:xfrm>
            <a:off x="6921500" y="1460500"/>
            <a:ext cx="2159000" cy="4762500"/>
          </a:xfrm>
          <a:prstGeom prst="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46C113AE-6997-3376-2AED-77BEBBF83512}"/>
              </a:ext>
            </a:extLst>
          </p:cNvPr>
          <p:cNvSpPr txBox="1"/>
          <p:nvPr/>
        </p:nvSpPr>
        <p:spPr>
          <a:xfrm>
            <a:off x="7124700" y="1638300"/>
            <a:ext cx="1752600" cy="461665"/>
          </a:xfrm>
          <a:prstGeom prst="rect">
            <a:avLst/>
          </a:prstGeom>
          <a:noFill/>
        </p:spPr>
        <p:txBody>
          <a:bodyPr vert="horz" wrap="square" lIns="0" tIns="0" rtlCol="0">
            <a:spAutoFit/>
          </a:bodyPr>
          <a:lstStyle/>
          <a:p>
            <a:r>
              <a:rPr lang="en-IN" sz="1350" b="1">
                <a:solidFill>
                  <a:srgbClr val="0F172A"/>
                </a:solidFill>
                <a:latin typeface="Segoe UI" panose="020B0502040204020203" pitchFamily="34" charset="0"/>
              </a:rPr>
              <a:t>3. Driver Layer
(PyMongo)</a:t>
            </a:r>
          </a:p>
        </p:txBody>
      </p:sp>
      <p:sp>
        <p:nvSpPr>
          <p:cNvPr id="17" name="TextBox 16">
            <a:extLst>
              <a:ext uri="{FF2B5EF4-FFF2-40B4-BE49-F238E27FC236}">
                <a16:creationId xmlns:a16="http://schemas.microsoft.com/office/drawing/2014/main" id="{17A9B975-6312-60BA-6127-3D2A44C73BA8}"/>
              </a:ext>
            </a:extLst>
          </p:cNvPr>
          <p:cNvSpPr txBox="1"/>
          <p:nvPr/>
        </p:nvSpPr>
        <p:spPr>
          <a:xfrm>
            <a:off x="7124700" y="2019300"/>
            <a:ext cx="1752600" cy="2246769"/>
          </a:xfrm>
          <a:prstGeom prst="rect">
            <a:avLst/>
          </a:prstGeom>
          <a:noFill/>
        </p:spPr>
        <p:txBody>
          <a:bodyPr vert="horz" wrap="square" lIns="0" tIns="0" rtlCol="0">
            <a:spAutoFit/>
          </a:bodyPr>
          <a:lstStyle/>
          <a:p>
            <a:r>
              <a:rPr lang="en-US" sz="1100">
                <a:solidFill>
                  <a:srgbClr val="1E293B"/>
                </a:solidFill>
                <a:latin typeface="Segoe UI" panose="020B0502040204020203" pitchFamily="34" charset="0"/>
              </a:rPr>
              <a:t>MongoClient Pool
BSON Object Mapping
ObjectId Translation
Query Execution:
(insert_one, find,
 update_one, delete)
Index Management
Error Handling</a:t>
            </a:r>
            <a:endParaRPr lang="en-IN" sz="1100">
              <a:solidFill>
                <a:srgbClr val="1E293B"/>
              </a:solidFill>
              <a:latin typeface="Segoe UI" panose="020B0502040204020203" pitchFamily="34" charset="0"/>
            </a:endParaRPr>
          </a:p>
        </p:txBody>
      </p:sp>
      <p:sp>
        <p:nvSpPr>
          <p:cNvPr id="18" name="Arrow: Right 17">
            <a:extLst>
              <a:ext uri="{FF2B5EF4-FFF2-40B4-BE49-F238E27FC236}">
                <a16:creationId xmlns:a16="http://schemas.microsoft.com/office/drawing/2014/main" id="{7B5B9B35-D8A0-532B-06F3-A215A9BC4FC6}"/>
              </a:ext>
            </a:extLst>
          </p:cNvPr>
          <p:cNvSpPr/>
          <p:nvPr/>
        </p:nvSpPr>
        <p:spPr>
          <a:xfrm>
            <a:off x="9182100" y="3556000"/>
            <a:ext cx="406400" cy="279400"/>
          </a:xfrm>
          <a:prstGeom prst="rightArrow">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8414F159-CBDC-5DE5-1260-A0C17388E3DF}"/>
              </a:ext>
            </a:extLst>
          </p:cNvPr>
          <p:cNvSpPr/>
          <p:nvPr/>
        </p:nvSpPr>
        <p:spPr>
          <a:xfrm>
            <a:off x="9715500" y="1460500"/>
            <a:ext cx="1905000" cy="4762500"/>
          </a:xfrm>
          <a:prstGeom prst="rect">
            <a:avLst/>
          </a:prstGeom>
          <a:solidFill>
            <a:srgbClr val="ECFDF5"/>
          </a:solidFill>
          <a:ln w="15240">
            <a:solidFill>
              <a:srgbClr val="A7F3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DAE018A1-43B7-4523-F46D-8D5C1DF7D24E}"/>
              </a:ext>
            </a:extLst>
          </p:cNvPr>
          <p:cNvSpPr txBox="1"/>
          <p:nvPr/>
        </p:nvSpPr>
        <p:spPr>
          <a:xfrm>
            <a:off x="9918700" y="1638300"/>
            <a:ext cx="1498600" cy="461665"/>
          </a:xfrm>
          <a:prstGeom prst="rect">
            <a:avLst/>
          </a:prstGeom>
          <a:noFill/>
        </p:spPr>
        <p:txBody>
          <a:bodyPr vert="horz" wrap="square" lIns="0" tIns="0" rtlCol="0">
            <a:spAutoFit/>
          </a:bodyPr>
          <a:lstStyle/>
          <a:p>
            <a:r>
              <a:rPr lang="en-IN" sz="1350" b="1">
                <a:solidFill>
                  <a:srgbClr val="0F172A"/>
                </a:solidFill>
                <a:latin typeface="Segoe UI" panose="020B0502040204020203" pitchFamily="34" charset="0"/>
              </a:rPr>
              <a:t>4. Data Store
(MongoDB)</a:t>
            </a:r>
          </a:p>
        </p:txBody>
      </p:sp>
      <p:sp>
        <p:nvSpPr>
          <p:cNvPr id="21" name="TextBox 20">
            <a:extLst>
              <a:ext uri="{FF2B5EF4-FFF2-40B4-BE49-F238E27FC236}">
                <a16:creationId xmlns:a16="http://schemas.microsoft.com/office/drawing/2014/main" id="{AFDA0239-F8CD-95A5-DB40-79635C9E9683}"/>
              </a:ext>
            </a:extLst>
          </p:cNvPr>
          <p:cNvSpPr txBox="1"/>
          <p:nvPr/>
        </p:nvSpPr>
        <p:spPr>
          <a:xfrm>
            <a:off x="9918700" y="2019300"/>
            <a:ext cx="1498600" cy="2416046"/>
          </a:xfrm>
          <a:prstGeom prst="rect">
            <a:avLst/>
          </a:prstGeom>
          <a:noFill/>
        </p:spPr>
        <p:txBody>
          <a:bodyPr vert="horz" wrap="square" lIns="0" tIns="0" rtlCol="0">
            <a:spAutoFit/>
          </a:bodyPr>
          <a:lstStyle/>
          <a:p>
            <a:r>
              <a:rPr lang="en-IN" sz="1100">
                <a:solidFill>
                  <a:srgbClr val="1E293B"/>
                </a:solidFill>
                <a:latin typeface="Segoe UI" panose="020B0502040204020203" pitchFamily="34" charset="0"/>
              </a:rPr>
              <a:t>Database:
student_records_db
Collection:
students
Document Storage
Unique Index
on reg_no
WiredTiger Engine
Persistent Disk</a:t>
            </a:r>
          </a:p>
        </p:txBody>
      </p:sp>
    </p:spTree>
    <p:extLst>
      <p:ext uri="{BB962C8B-B14F-4D97-AF65-F5344CB8AC3E}">
        <p14:creationId xmlns:p14="http://schemas.microsoft.com/office/powerpoint/2010/main" val="3302692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C5FCB92-58BF-FDAD-4CCD-65B9CB567AF3}"/>
              </a:ext>
            </a:extLst>
          </p:cNvPr>
          <p:cNvSpPr/>
          <p:nvPr/>
        </p:nvSpPr>
        <p:spPr>
          <a:xfrm>
            <a:off x="0" y="0"/>
            <a:ext cx="12192000" cy="762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364725D1-E23B-23F8-BBC7-DCB50DF7A5FC}"/>
              </a:ext>
            </a:extLst>
          </p:cNvPr>
          <p:cNvSpPr txBox="1"/>
          <p:nvPr/>
        </p:nvSpPr>
        <p:spPr>
          <a:xfrm>
            <a:off x="571500" y="254000"/>
            <a:ext cx="11049000" cy="200055"/>
          </a:xfrm>
          <a:prstGeom prst="rect">
            <a:avLst/>
          </a:prstGeom>
          <a:noFill/>
        </p:spPr>
        <p:txBody>
          <a:bodyPr vert="horz" lIns="0" tIns="0" rtlCol="0">
            <a:spAutoFit/>
          </a:bodyPr>
          <a:lstStyle/>
          <a:p>
            <a:r>
              <a:rPr lang="en-IN" sz="1000" b="1">
                <a:solidFill>
                  <a:srgbClr val="2563EB"/>
                </a:solidFill>
                <a:latin typeface="Segoe UI" panose="020B0502040204020203" pitchFamily="34" charset="0"/>
              </a:rPr>
              <a:t>06 | MAIN FEATURES</a:t>
            </a:r>
          </a:p>
        </p:txBody>
      </p:sp>
      <p:sp>
        <p:nvSpPr>
          <p:cNvPr id="4" name="TextBox 3">
            <a:extLst>
              <a:ext uri="{FF2B5EF4-FFF2-40B4-BE49-F238E27FC236}">
                <a16:creationId xmlns:a16="http://schemas.microsoft.com/office/drawing/2014/main" id="{604085EC-918D-DCB4-A31E-EAD9E0521BAA}"/>
              </a:ext>
            </a:extLst>
          </p:cNvPr>
          <p:cNvSpPr txBox="1"/>
          <p:nvPr/>
        </p:nvSpPr>
        <p:spPr>
          <a:xfrm>
            <a:off x="571500" y="508000"/>
            <a:ext cx="11049000" cy="384721"/>
          </a:xfrm>
          <a:prstGeom prst="rect">
            <a:avLst/>
          </a:prstGeom>
          <a:noFill/>
        </p:spPr>
        <p:txBody>
          <a:bodyPr vert="horz" lIns="0" tIns="0" rtlCol="0">
            <a:spAutoFit/>
          </a:bodyPr>
          <a:lstStyle/>
          <a:p>
            <a:r>
              <a:rPr lang="en-IN" sz="2200" b="1">
                <a:solidFill>
                  <a:srgbClr val="1A365D"/>
                </a:solidFill>
                <a:latin typeface="Segoe UI" panose="020B0502040204020203" pitchFamily="34" charset="0"/>
              </a:rPr>
              <a:t>Core CRUD Operations and Application Capabilities</a:t>
            </a:r>
          </a:p>
        </p:txBody>
      </p:sp>
      <p:sp>
        <p:nvSpPr>
          <p:cNvPr id="5" name="Rectangle 4">
            <a:extLst>
              <a:ext uri="{FF2B5EF4-FFF2-40B4-BE49-F238E27FC236}">
                <a16:creationId xmlns:a16="http://schemas.microsoft.com/office/drawing/2014/main" id="{EB875ECB-809C-491D-86C0-65236C223A21}"/>
              </a:ext>
            </a:extLst>
          </p:cNvPr>
          <p:cNvSpPr/>
          <p:nvPr/>
        </p:nvSpPr>
        <p:spPr>
          <a:xfrm>
            <a:off x="571500" y="1117600"/>
            <a:ext cx="11049000" cy="19050"/>
          </a:xfrm>
          <a:prstGeom prst="rect">
            <a:avLst/>
          </a:prstGeom>
          <a:solidFill>
            <a:srgbClr val="CBD5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6EF514ED-A75E-214A-5128-65FA2AE49DCB}"/>
              </a:ext>
            </a:extLst>
          </p:cNvPr>
          <p:cNvSpPr txBox="1"/>
          <p:nvPr/>
        </p:nvSpPr>
        <p:spPr>
          <a:xfrm>
            <a:off x="571500" y="6477000"/>
            <a:ext cx="11049000" cy="184666"/>
          </a:xfrm>
          <a:prstGeom prst="rect">
            <a:avLst/>
          </a:prstGeom>
          <a:noFill/>
        </p:spPr>
        <p:txBody>
          <a:bodyPr vert="horz" lIns="0" tIns="0" rtlCol="0">
            <a:spAutoFit/>
          </a:bodyPr>
          <a:lstStyle/>
          <a:p>
            <a:r>
              <a:rPr lang="en-IN" sz="900">
                <a:solidFill>
                  <a:srgbClr val="64748B"/>
                </a:solidFill>
                <a:latin typeface="Segoe UI" panose="020B0502040204020203" pitchFamily="34" charset="0"/>
              </a:rPr>
              <a:t>Student Record Management System  |  College CA2 Project  |  Nirmal Kumar (12201458)</a:t>
            </a:r>
          </a:p>
        </p:txBody>
      </p:sp>
      <p:sp>
        <p:nvSpPr>
          <p:cNvPr id="7" name="Rectangle 6">
            <a:extLst>
              <a:ext uri="{FF2B5EF4-FFF2-40B4-BE49-F238E27FC236}">
                <a16:creationId xmlns:a16="http://schemas.microsoft.com/office/drawing/2014/main" id="{2540FD36-FE3B-3130-902C-E81D9479B685}"/>
              </a:ext>
            </a:extLst>
          </p:cNvPr>
          <p:cNvSpPr/>
          <p:nvPr/>
        </p:nvSpPr>
        <p:spPr>
          <a:xfrm>
            <a:off x="571500" y="1333500"/>
            <a:ext cx="3492500" cy="2286000"/>
          </a:xfrm>
          <a:prstGeom prst="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D8C0158E-C6D3-0A3F-C0F3-CFBC6535D4A8}"/>
              </a:ext>
            </a:extLst>
          </p:cNvPr>
          <p:cNvSpPr/>
          <p:nvPr/>
        </p:nvSpPr>
        <p:spPr>
          <a:xfrm>
            <a:off x="571500" y="1333500"/>
            <a:ext cx="63500" cy="22860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54153C41-A74A-DC38-0E2F-1279CE6C36CE}"/>
              </a:ext>
            </a:extLst>
          </p:cNvPr>
          <p:cNvSpPr txBox="1"/>
          <p:nvPr/>
        </p:nvSpPr>
        <p:spPr>
          <a:xfrm>
            <a:off x="774700" y="1511300"/>
            <a:ext cx="3086100" cy="253916"/>
          </a:xfrm>
          <a:prstGeom prst="rect">
            <a:avLst/>
          </a:prstGeom>
          <a:noFill/>
        </p:spPr>
        <p:txBody>
          <a:bodyPr vert="horz" wrap="square" lIns="0" tIns="0" rtlCol="0">
            <a:spAutoFit/>
          </a:bodyPr>
          <a:lstStyle/>
          <a:p>
            <a:r>
              <a:rPr lang="en-IN" sz="1350" b="1">
                <a:solidFill>
                  <a:srgbClr val="0F172A"/>
                </a:solidFill>
                <a:latin typeface="Segoe UI" panose="020B0502040204020203" pitchFamily="34" charset="0"/>
              </a:rPr>
              <a:t>Add Student (CREATE)</a:t>
            </a:r>
          </a:p>
        </p:txBody>
      </p:sp>
      <p:sp>
        <p:nvSpPr>
          <p:cNvPr id="10" name="TextBox 9">
            <a:extLst>
              <a:ext uri="{FF2B5EF4-FFF2-40B4-BE49-F238E27FC236}">
                <a16:creationId xmlns:a16="http://schemas.microsoft.com/office/drawing/2014/main" id="{8E8B276F-F304-BFE2-9D6A-4ACE9E665D75}"/>
              </a:ext>
            </a:extLst>
          </p:cNvPr>
          <p:cNvSpPr txBox="1"/>
          <p:nvPr/>
        </p:nvSpPr>
        <p:spPr>
          <a:xfrm>
            <a:off x="774700" y="1892300"/>
            <a:ext cx="3086100" cy="1231106"/>
          </a:xfrm>
          <a:prstGeom prst="rect">
            <a:avLst/>
          </a:prstGeom>
          <a:noFill/>
        </p:spPr>
        <p:txBody>
          <a:bodyPr vert="horz" wrap="square" lIns="0" tIns="0" rtlCol="0">
            <a:spAutoFit/>
          </a:bodyPr>
          <a:lstStyle/>
          <a:p>
            <a:r>
              <a:rPr lang="en-US" sz="1100">
                <a:solidFill>
                  <a:srgbClr val="1E293B"/>
                </a:solidFill>
                <a:latin typeface="Segoe UI" panose="020B0502040204020203" pitchFamily="34" charset="0"/>
              </a:rPr>
              <a:t>Route: POST /add
Captures: Name, Reg No, Course, Semester, Email, and CGPA.
Uniqueness Check: Queries MongoDB to block duplicate reg_no.</a:t>
            </a:r>
            <a:endParaRPr lang="en-IN" sz="1100">
              <a:solidFill>
                <a:srgbClr val="1E293B"/>
              </a:solidFill>
              <a:latin typeface="Segoe UI" panose="020B0502040204020203" pitchFamily="34" charset="0"/>
            </a:endParaRPr>
          </a:p>
        </p:txBody>
      </p:sp>
      <p:sp>
        <p:nvSpPr>
          <p:cNvPr id="11" name="Rectangle 10">
            <a:extLst>
              <a:ext uri="{FF2B5EF4-FFF2-40B4-BE49-F238E27FC236}">
                <a16:creationId xmlns:a16="http://schemas.microsoft.com/office/drawing/2014/main" id="{E395DCC2-BC4B-9F11-D7F7-B5707DF77622}"/>
              </a:ext>
            </a:extLst>
          </p:cNvPr>
          <p:cNvSpPr/>
          <p:nvPr/>
        </p:nvSpPr>
        <p:spPr>
          <a:xfrm>
            <a:off x="4343400" y="1333500"/>
            <a:ext cx="3492500" cy="2286000"/>
          </a:xfrm>
          <a:prstGeom prst="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EC10CA83-9BE9-88C8-5854-A3EB74F37D68}"/>
              </a:ext>
            </a:extLst>
          </p:cNvPr>
          <p:cNvSpPr/>
          <p:nvPr/>
        </p:nvSpPr>
        <p:spPr>
          <a:xfrm>
            <a:off x="4343400" y="1333500"/>
            <a:ext cx="63500" cy="22860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B7CA1578-FEFB-CF17-213B-A3DA7F84AF70}"/>
              </a:ext>
            </a:extLst>
          </p:cNvPr>
          <p:cNvSpPr txBox="1"/>
          <p:nvPr/>
        </p:nvSpPr>
        <p:spPr>
          <a:xfrm>
            <a:off x="4546600" y="1511300"/>
            <a:ext cx="3086100" cy="253916"/>
          </a:xfrm>
          <a:prstGeom prst="rect">
            <a:avLst/>
          </a:prstGeom>
          <a:noFill/>
        </p:spPr>
        <p:txBody>
          <a:bodyPr vert="horz" wrap="square" lIns="0" tIns="0" rtlCol="0">
            <a:spAutoFit/>
          </a:bodyPr>
          <a:lstStyle/>
          <a:p>
            <a:r>
              <a:rPr lang="en-IN" sz="1350" b="1">
                <a:solidFill>
                  <a:srgbClr val="0F172A"/>
                </a:solidFill>
                <a:latin typeface="Segoe UI" panose="020B0502040204020203" pitchFamily="34" charset="0"/>
              </a:rPr>
              <a:t>View Registry (READ)</a:t>
            </a:r>
          </a:p>
        </p:txBody>
      </p:sp>
      <p:sp>
        <p:nvSpPr>
          <p:cNvPr id="14" name="TextBox 13">
            <a:extLst>
              <a:ext uri="{FF2B5EF4-FFF2-40B4-BE49-F238E27FC236}">
                <a16:creationId xmlns:a16="http://schemas.microsoft.com/office/drawing/2014/main" id="{6330FD65-2C94-8B7E-D1A5-F5FD90007378}"/>
              </a:ext>
            </a:extLst>
          </p:cNvPr>
          <p:cNvSpPr txBox="1"/>
          <p:nvPr/>
        </p:nvSpPr>
        <p:spPr>
          <a:xfrm>
            <a:off x="4546600" y="1892300"/>
            <a:ext cx="3086100" cy="1231106"/>
          </a:xfrm>
          <a:prstGeom prst="rect">
            <a:avLst/>
          </a:prstGeom>
          <a:noFill/>
        </p:spPr>
        <p:txBody>
          <a:bodyPr vert="horz" wrap="square" lIns="0" tIns="0" rtlCol="0">
            <a:spAutoFit/>
          </a:bodyPr>
          <a:lstStyle/>
          <a:p>
            <a:r>
              <a:rPr lang="en-US" sz="1100">
                <a:solidFill>
                  <a:srgbClr val="1E293B"/>
                </a:solidFill>
                <a:latin typeface="Segoe UI" panose="020B0502040204020203" pitchFamily="34" charset="0"/>
              </a:rPr>
              <a:t>Route: GET /
Formatted table with custom badges for courses and semesters.
Color-coded CGPA pills: Outstanding (&gt;=8.5), Good (&gt;=7.0), Low.</a:t>
            </a:r>
            <a:endParaRPr lang="en-IN" sz="1100">
              <a:solidFill>
                <a:srgbClr val="1E293B"/>
              </a:solidFill>
              <a:latin typeface="Segoe UI" panose="020B0502040204020203" pitchFamily="34" charset="0"/>
            </a:endParaRPr>
          </a:p>
        </p:txBody>
      </p:sp>
      <p:sp>
        <p:nvSpPr>
          <p:cNvPr id="15" name="Rectangle 14">
            <a:extLst>
              <a:ext uri="{FF2B5EF4-FFF2-40B4-BE49-F238E27FC236}">
                <a16:creationId xmlns:a16="http://schemas.microsoft.com/office/drawing/2014/main" id="{2A2A34AE-7ABA-0352-BB4D-DF653FBC6D12}"/>
              </a:ext>
            </a:extLst>
          </p:cNvPr>
          <p:cNvSpPr/>
          <p:nvPr/>
        </p:nvSpPr>
        <p:spPr>
          <a:xfrm>
            <a:off x="8128000" y="1333500"/>
            <a:ext cx="3492500" cy="2286000"/>
          </a:xfrm>
          <a:prstGeom prst="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55B818D5-CF29-208E-EEDC-9912310585A5}"/>
              </a:ext>
            </a:extLst>
          </p:cNvPr>
          <p:cNvSpPr/>
          <p:nvPr/>
        </p:nvSpPr>
        <p:spPr>
          <a:xfrm>
            <a:off x="8128000" y="1333500"/>
            <a:ext cx="63500" cy="22860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589D88F1-59B7-4332-36DF-6A75A51F0938}"/>
              </a:ext>
            </a:extLst>
          </p:cNvPr>
          <p:cNvSpPr txBox="1"/>
          <p:nvPr/>
        </p:nvSpPr>
        <p:spPr>
          <a:xfrm>
            <a:off x="8331200" y="1511300"/>
            <a:ext cx="3086100" cy="253916"/>
          </a:xfrm>
          <a:prstGeom prst="rect">
            <a:avLst/>
          </a:prstGeom>
          <a:noFill/>
        </p:spPr>
        <p:txBody>
          <a:bodyPr vert="horz" wrap="square" lIns="0" tIns="0" rtlCol="0">
            <a:spAutoFit/>
          </a:bodyPr>
          <a:lstStyle/>
          <a:p>
            <a:r>
              <a:rPr lang="en-IN" sz="1350" b="1">
                <a:solidFill>
                  <a:srgbClr val="0F172A"/>
                </a:solidFill>
                <a:latin typeface="Segoe UI" panose="020B0502040204020203" pitchFamily="34" charset="0"/>
              </a:rPr>
              <a:t>Search and Filter (QUERY)</a:t>
            </a:r>
          </a:p>
        </p:txBody>
      </p:sp>
      <p:sp>
        <p:nvSpPr>
          <p:cNvPr id="18" name="TextBox 17">
            <a:extLst>
              <a:ext uri="{FF2B5EF4-FFF2-40B4-BE49-F238E27FC236}">
                <a16:creationId xmlns:a16="http://schemas.microsoft.com/office/drawing/2014/main" id="{B7CF53FD-0AF9-C234-1181-5B8640434132}"/>
              </a:ext>
            </a:extLst>
          </p:cNvPr>
          <p:cNvSpPr txBox="1"/>
          <p:nvPr/>
        </p:nvSpPr>
        <p:spPr>
          <a:xfrm>
            <a:off x="8331200" y="1892300"/>
            <a:ext cx="3086100" cy="1231106"/>
          </a:xfrm>
          <a:prstGeom prst="rect">
            <a:avLst/>
          </a:prstGeom>
          <a:noFill/>
        </p:spPr>
        <p:txBody>
          <a:bodyPr vert="horz" wrap="square" lIns="0" tIns="0" rtlCol="0">
            <a:spAutoFit/>
          </a:bodyPr>
          <a:lstStyle/>
          <a:p>
            <a:r>
              <a:rPr lang="en-US" sz="1100">
                <a:solidFill>
                  <a:srgbClr val="1E293B"/>
                </a:solidFill>
                <a:latin typeface="Segoe UI" panose="020B0502040204020203" pitchFamily="34" charset="0"/>
              </a:rPr>
              <a:t>Routes: GET / and GET /search
Case-insensitive regex search by Reg Number or Name.
Course filter dropdown plus instant Clear Filters reset button.</a:t>
            </a:r>
            <a:endParaRPr lang="en-IN" sz="1100">
              <a:solidFill>
                <a:srgbClr val="1E293B"/>
              </a:solidFill>
              <a:latin typeface="Segoe UI" panose="020B0502040204020203" pitchFamily="34" charset="0"/>
            </a:endParaRPr>
          </a:p>
        </p:txBody>
      </p:sp>
      <p:sp>
        <p:nvSpPr>
          <p:cNvPr id="19" name="Rectangle 18">
            <a:extLst>
              <a:ext uri="{FF2B5EF4-FFF2-40B4-BE49-F238E27FC236}">
                <a16:creationId xmlns:a16="http://schemas.microsoft.com/office/drawing/2014/main" id="{3B11D8BC-1F94-8731-46A9-70EA49B2D117}"/>
              </a:ext>
            </a:extLst>
          </p:cNvPr>
          <p:cNvSpPr/>
          <p:nvPr/>
        </p:nvSpPr>
        <p:spPr>
          <a:xfrm>
            <a:off x="2349500" y="3873500"/>
            <a:ext cx="3619500" cy="2349500"/>
          </a:xfrm>
          <a:prstGeom prst="rect">
            <a:avLst/>
          </a:prstGeom>
          <a:solidFill>
            <a:srgbClr val="EFF6FF"/>
          </a:solidFill>
          <a:ln w="15240">
            <a:solidFill>
              <a:srgbClr val="93C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81E0042B-F365-5B4C-8868-4FDE202AF442}"/>
              </a:ext>
            </a:extLst>
          </p:cNvPr>
          <p:cNvSpPr/>
          <p:nvPr/>
        </p:nvSpPr>
        <p:spPr>
          <a:xfrm>
            <a:off x="2349500" y="3873500"/>
            <a:ext cx="63500" cy="23495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ADDB5487-A23B-DECB-4407-8217AA9F44F6}"/>
              </a:ext>
            </a:extLst>
          </p:cNvPr>
          <p:cNvSpPr txBox="1"/>
          <p:nvPr/>
        </p:nvSpPr>
        <p:spPr>
          <a:xfrm>
            <a:off x="2552700" y="4051300"/>
            <a:ext cx="3213100" cy="253916"/>
          </a:xfrm>
          <a:prstGeom prst="rect">
            <a:avLst/>
          </a:prstGeom>
          <a:noFill/>
        </p:spPr>
        <p:txBody>
          <a:bodyPr vert="horz" wrap="square" lIns="0" tIns="0" rtlCol="0">
            <a:spAutoFit/>
          </a:bodyPr>
          <a:lstStyle/>
          <a:p>
            <a:r>
              <a:rPr lang="en-IN" sz="1350" b="1">
                <a:solidFill>
                  <a:srgbClr val="0F172A"/>
                </a:solidFill>
                <a:latin typeface="Segoe UI" panose="020B0502040204020203" pitchFamily="34" charset="0"/>
              </a:rPr>
              <a:t>Update Record (UPDATE)</a:t>
            </a:r>
          </a:p>
        </p:txBody>
      </p:sp>
      <p:sp>
        <p:nvSpPr>
          <p:cNvPr id="22" name="TextBox 21">
            <a:extLst>
              <a:ext uri="{FF2B5EF4-FFF2-40B4-BE49-F238E27FC236}">
                <a16:creationId xmlns:a16="http://schemas.microsoft.com/office/drawing/2014/main" id="{45AC11FA-5A36-E708-BB13-A0C090704339}"/>
              </a:ext>
            </a:extLst>
          </p:cNvPr>
          <p:cNvSpPr txBox="1"/>
          <p:nvPr/>
        </p:nvSpPr>
        <p:spPr>
          <a:xfrm>
            <a:off x="2552700" y="4432300"/>
            <a:ext cx="3213100" cy="1231106"/>
          </a:xfrm>
          <a:prstGeom prst="rect">
            <a:avLst/>
          </a:prstGeom>
          <a:noFill/>
        </p:spPr>
        <p:txBody>
          <a:bodyPr vert="horz" wrap="square" lIns="0" tIns="0" rtlCol="0">
            <a:spAutoFit/>
          </a:bodyPr>
          <a:lstStyle/>
          <a:p>
            <a:r>
              <a:rPr lang="en-US" sz="1100">
                <a:solidFill>
                  <a:srgbClr val="1E293B"/>
                </a:solidFill>
                <a:latin typeface="Segoe UI" panose="020B0502040204020203" pitchFamily="34" charset="0"/>
              </a:rPr>
              <a:t>Route: POST /edit/&lt;id&gt;
Pre-fills existing student credentials into edit template.
Conflict Prevention: Ensures updated reg_no is not held by another student.</a:t>
            </a:r>
            <a:endParaRPr lang="en-IN" sz="1100">
              <a:solidFill>
                <a:srgbClr val="1E293B"/>
              </a:solidFill>
              <a:latin typeface="Segoe UI" panose="020B0502040204020203" pitchFamily="34" charset="0"/>
            </a:endParaRPr>
          </a:p>
        </p:txBody>
      </p:sp>
      <p:sp>
        <p:nvSpPr>
          <p:cNvPr id="23" name="Rectangle 22">
            <a:extLst>
              <a:ext uri="{FF2B5EF4-FFF2-40B4-BE49-F238E27FC236}">
                <a16:creationId xmlns:a16="http://schemas.microsoft.com/office/drawing/2014/main" id="{D4A223B9-178A-0DD7-DFBD-4A4C457FA48A}"/>
              </a:ext>
            </a:extLst>
          </p:cNvPr>
          <p:cNvSpPr/>
          <p:nvPr/>
        </p:nvSpPr>
        <p:spPr>
          <a:xfrm>
            <a:off x="6223000" y="3873500"/>
            <a:ext cx="3619500" cy="2349500"/>
          </a:xfrm>
          <a:prstGeom prst="rect">
            <a:avLst/>
          </a:prstGeom>
          <a:solidFill>
            <a:srgbClr val="EFF6FF"/>
          </a:solidFill>
          <a:ln w="15240">
            <a:solidFill>
              <a:srgbClr val="93C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a:extLst>
              <a:ext uri="{FF2B5EF4-FFF2-40B4-BE49-F238E27FC236}">
                <a16:creationId xmlns:a16="http://schemas.microsoft.com/office/drawing/2014/main" id="{C2C82CA5-31CF-C54A-16CF-28DD0CC10D45}"/>
              </a:ext>
            </a:extLst>
          </p:cNvPr>
          <p:cNvSpPr/>
          <p:nvPr/>
        </p:nvSpPr>
        <p:spPr>
          <a:xfrm>
            <a:off x="6223000" y="3873500"/>
            <a:ext cx="63500" cy="23495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0CFCA376-1BE6-10DA-5552-DBFE4C57B148}"/>
              </a:ext>
            </a:extLst>
          </p:cNvPr>
          <p:cNvSpPr txBox="1"/>
          <p:nvPr/>
        </p:nvSpPr>
        <p:spPr>
          <a:xfrm>
            <a:off x="6426200" y="4051300"/>
            <a:ext cx="3213100" cy="253916"/>
          </a:xfrm>
          <a:prstGeom prst="rect">
            <a:avLst/>
          </a:prstGeom>
          <a:noFill/>
        </p:spPr>
        <p:txBody>
          <a:bodyPr vert="horz" wrap="square" lIns="0" tIns="0" rtlCol="0">
            <a:spAutoFit/>
          </a:bodyPr>
          <a:lstStyle/>
          <a:p>
            <a:r>
              <a:rPr lang="en-IN" sz="1350" b="1">
                <a:solidFill>
                  <a:srgbClr val="0F172A"/>
                </a:solidFill>
                <a:latin typeface="Segoe UI" panose="020B0502040204020203" pitchFamily="34" charset="0"/>
              </a:rPr>
              <a:t>Delete Record (DELETE)</a:t>
            </a:r>
          </a:p>
        </p:txBody>
      </p:sp>
      <p:sp>
        <p:nvSpPr>
          <p:cNvPr id="26" name="TextBox 25">
            <a:extLst>
              <a:ext uri="{FF2B5EF4-FFF2-40B4-BE49-F238E27FC236}">
                <a16:creationId xmlns:a16="http://schemas.microsoft.com/office/drawing/2014/main" id="{BCB1EAEB-1923-B7D8-36A9-544A32B9D476}"/>
              </a:ext>
            </a:extLst>
          </p:cNvPr>
          <p:cNvSpPr txBox="1"/>
          <p:nvPr/>
        </p:nvSpPr>
        <p:spPr>
          <a:xfrm>
            <a:off x="6426200" y="4432300"/>
            <a:ext cx="3213100" cy="1231106"/>
          </a:xfrm>
          <a:prstGeom prst="rect">
            <a:avLst/>
          </a:prstGeom>
          <a:noFill/>
        </p:spPr>
        <p:txBody>
          <a:bodyPr vert="horz" wrap="square" lIns="0" tIns="0" rtlCol="0">
            <a:spAutoFit/>
          </a:bodyPr>
          <a:lstStyle/>
          <a:p>
            <a:r>
              <a:rPr lang="en-US" sz="1100">
                <a:solidFill>
                  <a:srgbClr val="1E293B"/>
                </a:solidFill>
                <a:latin typeface="Segoe UI" panose="020B0502040204020203" pitchFamily="34" charset="0"/>
              </a:rPr>
              <a:t>Route: POST /delete/&lt;id&gt;
Client-side safety confirmation: JavaScript onsubmit confirm() prompt.
Permanent document removal followed by friendly flash notice.</a:t>
            </a:r>
            <a:endParaRPr lang="en-IN" sz="1100">
              <a:solidFill>
                <a:srgbClr val="1E293B"/>
              </a:solidFill>
              <a:latin typeface="Segoe UI" panose="020B0502040204020203" pitchFamily="34" charset="0"/>
            </a:endParaRPr>
          </a:p>
        </p:txBody>
      </p:sp>
    </p:spTree>
    <p:extLst>
      <p:ext uri="{BB962C8B-B14F-4D97-AF65-F5344CB8AC3E}">
        <p14:creationId xmlns:p14="http://schemas.microsoft.com/office/powerpoint/2010/main" val="2437245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BA8C3CC-ABD9-9349-C547-9BB548263944}"/>
              </a:ext>
            </a:extLst>
          </p:cNvPr>
          <p:cNvSpPr/>
          <p:nvPr/>
        </p:nvSpPr>
        <p:spPr>
          <a:xfrm>
            <a:off x="0" y="0"/>
            <a:ext cx="12192000" cy="762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6BE857EA-B1B0-4F91-AF0C-077201E6EF14}"/>
              </a:ext>
            </a:extLst>
          </p:cNvPr>
          <p:cNvSpPr txBox="1"/>
          <p:nvPr/>
        </p:nvSpPr>
        <p:spPr>
          <a:xfrm>
            <a:off x="571500" y="254000"/>
            <a:ext cx="11049000" cy="200055"/>
          </a:xfrm>
          <a:prstGeom prst="rect">
            <a:avLst/>
          </a:prstGeom>
          <a:noFill/>
        </p:spPr>
        <p:txBody>
          <a:bodyPr vert="horz" lIns="0" tIns="0" rtlCol="0">
            <a:spAutoFit/>
          </a:bodyPr>
          <a:lstStyle/>
          <a:p>
            <a:r>
              <a:rPr lang="en-IN" sz="1000" b="1">
                <a:solidFill>
                  <a:srgbClr val="2563EB"/>
                </a:solidFill>
                <a:latin typeface="Segoe UI" panose="020B0502040204020203" pitchFamily="34" charset="0"/>
              </a:rPr>
              <a:t>07 | DATABASE DESIGN</a:t>
            </a:r>
          </a:p>
        </p:txBody>
      </p:sp>
      <p:sp>
        <p:nvSpPr>
          <p:cNvPr id="4" name="TextBox 3">
            <a:extLst>
              <a:ext uri="{FF2B5EF4-FFF2-40B4-BE49-F238E27FC236}">
                <a16:creationId xmlns:a16="http://schemas.microsoft.com/office/drawing/2014/main" id="{DB744BF4-CA6D-E604-DAC0-0CEE8EDCC233}"/>
              </a:ext>
            </a:extLst>
          </p:cNvPr>
          <p:cNvSpPr txBox="1"/>
          <p:nvPr/>
        </p:nvSpPr>
        <p:spPr>
          <a:xfrm>
            <a:off x="571500" y="508000"/>
            <a:ext cx="11049000" cy="384721"/>
          </a:xfrm>
          <a:prstGeom prst="rect">
            <a:avLst/>
          </a:prstGeom>
          <a:noFill/>
        </p:spPr>
        <p:txBody>
          <a:bodyPr vert="horz" lIns="0" tIns="0" rtlCol="0">
            <a:spAutoFit/>
          </a:bodyPr>
          <a:lstStyle/>
          <a:p>
            <a:r>
              <a:rPr lang="en-IN" sz="2200" b="1">
                <a:solidFill>
                  <a:srgbClr val="1A365D"/>
                </a:solidFill>
                <a:latin typeface="Segoe UI" panose="020B0502040204020203" pitchFamily="34" charset="0"/>
              </a:rPr>
              <a:t>MongoDB Collection and BSON Document Schema</a:t>
            </a:r>
          </a:p>
        </p:txBody>
      </p:sp>
      <p:sp>
        <p:nvSpPr>
          <p:cNvPr id="5" name="Rectangle 4">
            <a:extLst>
              <a:ext uri="{FF2B5EF4-FFF2-40B4-BE49-F238E27FC236}">
                <a16:creationId xmlns:a16="http://schemas.microsoft.com/office/drawing/2014/main" id="{5CA6EFAD-E6D1-3219-A061-12D4B30F0AE4}"/>
              </a:ext>
            </a:extLst>
          </p:cNvPr>
          <p:cNvSpPr/>
          <p:nvPr/>
        </p:nvSpPr>
        <p:spPr>
          <a:xfrm>
            <a:off x="571500" y="1117600"/>
            <a:ext cx="11049000" cy="19050"/>
          </a:xfrm>
          <a:prstGeom prst="rect">
            <a:avLst/>
          </a:prstGeom>
          <a:solidFill>
            <a:srgbClr val="CBD5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64494A9B-F184-ED5C-2319-1FED9776C7F2}"/>
              </a:ext>
            </a:extLst>
          </p:cNvPr>
          <p:cNvSpPr txBox="1"/>
          <p:nvPr/>
        </p:nvSpPr>
        <p:spPr>
          <a:xfrm>
            <a:off x="571500" y="6477000"/>
            <a:ext cx="11049000" cy="184666"/>
          </a:xfrm>
          <a:prstGeom prst="rect">
            <a:avLst/>
          </a:prstGeom>
          <a:noFill/>
        </p:spPr>
        <p:txBody>
          <a:bodyPr vert="horz" lIns="0" tIns="0" rtlCol="0">
            <a:spAutoFit/>
          </a:bodyPr>
          <a:lstStyle/>
          <a:p>
            <a:r>
              <a:rPr lang="en-IN" sz="900">
                <a:solidFill>
                  <a:srgbClr val="64748B"/>
                </a:solidFill>
                <a:latin typeface="Segoe UI" panose="020B0502040204020203" pitchFamily="34" charset="0"/>
              </a:rPr>
              <a:t>Student Record Management System  |  College CA2 Project  |  Nirmal Kumar (12201458)</a:t>
            </a:r>
          </a:p>
        </p:txBody>
      </p:sp>
      <p:sp>
        <p:nvSpPr>
          <p:cNvPr id="7" name="Rectangle 6">
            <a:extLst>
              <a:ext uri="{FF2B5EF4-FFF2-40B4-BE49-F238E27FC236}">
                <a16:creationId xmlns:a16="http://schemas.microsoft.com/office/drawing/2014/main" id="{3525A749-1397-7EC3-943D-352265E3378D}"/>
              </a:ext>
            </a:extLst>
          </p:cNvPr>
          <p:cNvSpPr/>
          <p:nvPr/>
        </p:nvSpPr>
        <p:spPr>
          <a:xfrm>
            <a:off x="571500" y="1333500"/>
            <a:ext cx="5334000" cy="4889500"/>
          </a:xfrm>
          <a:prstGeom prst="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CF3189FF-5243-B2C5-75DF-50B95E1EBD9C}"/>
              </a:ext>
            </a:extLst>
          </p:cNvPr>
          <p:cNvSpPr/>
          <p:nvPr/>
        </p:nvSpPr>
        <p:spPr>
          <a:xfrm>
            <a:off x="571500" y="1333500"/>
            <a:ext cx="63500" cy="48895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E157ED41-862C-2B20-ED62-3681C349A865}"/>
              </a:ext>
            </a:extLst>
          </p:cNvPr>
          <p:cNvSpPr txBox="1"/>
          <p:nvPr/>
        </p:nvSpPr>
        <p:spPr>
          <a:xfrm>
            <a:off x="774700" y="1511300"/>
            <a:ext cx="4927600" cy="253916"/>
          </a:xfrm>
          <a:prstGeom prst="rect">
            <a:avLst/>
          </a:prstGeom>
          <a:noFill/>
        </p:spPr>
        <p:txBody>
          <a:bodyPr vert="horz" wrap="square" lIns="0" tIns="0" rtlCol="0">
            <a:spAutoFit/>
          </a:bodyPr>
          <a:lstStyle/>
          <a:p>
            <a:r>
              <a:rPr lang="en-IN" sz="1350" b="1">
                <a:solidFill>
                  <a:srgbClr val="0F172A"/>
                </a:solidFill>
                <a:latin typeface="Segoe UI" panose="020B0502040204020203" pitchFamily="34" charset="0"/>
              </a:rPr>
              <a:t>Database and Collection Architecture</a:t>
            </a:r>
          </a:p>
        </p:txBody>
      </p:sp>
      <p:sp>
        <p:nvSpPr>
          <p:cNvPr id="10" name="TextBox 9">
            <a:extLst>
              <a:ext uri="{FF2B5EF4-FFF2-40B4-BE49-F238E27FC236}">
                <a16:creationId xmlns:a16="http://schemas.microsoft.com/office/drawing/2014/main" id="{9A7439AC-8C4C-E10B-D25D-B43A63B98282}"/>
              </a:ext>
            </a:extLst>
          </p:cNvPr>
          <p:cNvSpPr txBox="1"/>
          <p:nvPr/>
        </p:nvSpPr>
        <p:spPr>
          <a:xfrm>
            <a:off x="774700" y="1892300"/>
            <a:ext cx="4927600" cy="2246769"/>
          </a:xfrm>
          <a:prstGeom prst="rect">
            <a:avLst/>
          </a:prstGeom>
          <a:noFill/>
        </p:spPr>
        <p:txBody>
          <a:bodyPr vert="horz" wrap="square" lIns="0" tIns="0" rtlCol="0">
            <a:spAutoFit/>
          </a:bodyPr>
          <a:lstStyle/>
          <a:p>
            <a:r>
              <a:rPr lang="en-IN" sz="1100">
                <a:solidFill>
                  <a:srgbClr val="1E293B"/>
                </a:solidFill>
                <a:latin typeface="Segoe UI" panose="020B0502040204020203" pitchFamily="34" charset="0"/>
              </a:rPr>
              <a:t>Database Name: student_records_db
Collection Name: students
Storage Format: BSON (Binary JSON) documents
Index Rule: create_index([('reg_no', 1)], unique=True)
Schema Flexibility: Allows adding timestamps (created_at, updated_at) without schema alteration scripts.
High Performance: WiredTiger storage engine handles concurrent document reads and writes efficiently without table lockups.</a:t>
            </a:r>
          </a:p>
        </p:txBody>
      </p:sp>
      <p:sp>
        <p:nvSpPr>
          <p:cNvPr id="11" name="Rectangle 10">
            <a:extLst>
              <a:ext uri="{FF2B5EF4-FFF2-40B4-BE49-F238E27FC236}">
                <a16:creationId xmlns:a16="http://schemas.microsoft.com/office/drawing/2014/main" id="{92ECEC87-595F-4FEF-6391-5AD5E1A00C95}"/>
              </a:ext>
            </a:extLst>
          </p:cNvPr>
          <p:cNvSpPr/>
          <p:nvPr/>
        </p:nvSpPr>
        <p:spPr>
          <a:xfrm>
            <a:off x="6286500" y="1333500"/>
            <a:ext cx="5334000" cy="4889500"/>
          </a:xfrm>
          <a:prstGeom prst="rect">
            <a:avLst/>
          </a:prstGeom>
          <a:solidFill>
            <a:srgbClr val="EFF6FF"/>
          </a:solidFill>
          <a:ln w="15240">
            <a:solidFill>
              <a:srgbClr val="93C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9B6F95A4-701D-E5DD-E984-15255855473D}"/>
              </a:ext>
            </a:extLst>
          </p:cNvPr>
          <p:cNvSpPr/>
          <p:nvPr/>
        </p:nvSpPr>
        <p:spPr>
          <a:xfrm>
            <a:off x="6286500" y="1333500"/>
            <a:ext cx="63500" cy="48895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106E25A8-5EED-681D-3657-08155C71DE22}"/>
              </a:ext>
            </a:extLst>
          </p:cNvPr>
          <p:cNvSpPr txBox="1"/>
          <p:nvPr/>
        </p:nvSpPr>
        <p:spPr>
          <a:xfrm>
            <a:off x="6489700" y="1511300"/>
            <a:ext cx="4927600" cy="253916"/>
          </a:xfrm>
          <a:prstGeom prst="rect">
            <a:avLst/>
          </a:prstGeom>
          <a:noFill/>
        </p:spPr>
        <p:txBody>
          <a:bodyPr vert="horz" wrap="square" lIns="0" tIns="0" rtlCol="0">
            <a:spAutoFit/>
          </a:bodyPr>
          <a:lstStyle/>
          <a:p>
            <a:r>
              <a:rPr lang="en-US" sz="1350" b="1">
                <a:solidFill>
                  <a:srgbClr val="0F172A"/>
                </a:solidFill>
                <a:latin typeface="Segoe UI" panose="020B0502040204020203" pitchFamily="34" charset="0"/>
              </a:rPr>
              <a:t>Document Schema and Field Types</a:t>
            </a:r>
            <a:endParaRPr lang="en-IN" sz="1350" b="1">
              <a:solidFill>
                <a:srgbClr val="0F172A"/>
              </a:solidFill>
              <a:latin typeface="Segoe UI" panose="020B0502040204020203" pitchFamily="34" charset="0"/>
            </a:endParaRPr>
          </a:p>
        </p:txBody>
      </p:sp>
      <p:sp>
        <p:nvSpPr>
          <p:cNvPr id="14" name="TextBox 13">
            <a:extLst>
              <a:ext uri="{FF2B5EF4-FFF2-40B4-BE49-F238E27FC236}">
                <a16:creationId xmlns:a16="http://schemas.microsoft.com/office/drawing/2014/main" id="{0C4F39CF-E77F-C854-D9E9-17DA8E28D85C}"/>
              </a:ext>
            </a:extLst>
          </p:cNvPr>
          <p:cNvSpPr txBox="1"/>
          <p:nvPr/>
        </p:nvSpPr>
        <p:spPr>
          <a:xfrm>
            <a:off x="6489700" y="1892300"/>
            <a:ext cx="4927600" cy="2585323"/>
          </a:xfrm>
          <a:prstGeom prst="rect">
            <a:avLst/>
          </a:prstGeom>
          <a:noFill/>
        </p:spPr>
        <p:txBody>
          <a:bodyPr vert="horz" wrap="square" lIns="0" tIns="0" rtlCol="0">
            <a:spAutoFit/>
          </a:bodyPr>
          <a:lstStyle/>
          <a:p>
            <a:r>
              <a:rPr lang="en-IN" sz="1100">
                <a:solidFill>
                  <a:srgbClr val="1E293B"/>
                </a:solidFill>
                <a:latin typeface="Segoe UI" panose="020B0502040204020203" pitchFamily="34" charset="0"/>
              </a:rPr>
              <a:t>_id : ObjectId (12-byte primary key generated by MongoDB)
name : String (Full legal name of enrolled student)
reg_no : String (Unique student registration number)
course : String (Academic program, e.g. B.Tech CSE, BCA)
semester : Integer (Current term, integer between 1 and 8)
email : String (Valid institutional email address)
cgpa : Double (Cumulative GPA on a scale of 0.00 to 10.00)
created_at : DateTime (Timestamp of initial document creation)</a:t>
            </a:r>
          </a:p>
        </p:txBody>
      </p:sp>
    </p:spTree>
    <p:extLst>
      <p:ext uri="{BB962C8B-B14F-4D97-AF65-F5344CB8AC3E}">
        <p14:creationId xmlns:p14="http://schemas.microsoft.com/office/powerpoint/2010/main" val="889960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BFB7F6D-E73F-11E5-D55E-5590730AA205}"/>
              </a:ext>
            </a:extLst>
          </p:cNvPr>
          <p:cNvSpPr/>
          <p:nvPr/>
        </p:nvSpPr>
        <p:spPr>
          <a:xfrm>
            <a:off x="0" y="0"/>
            <a:ext cx="12192000" cy="762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25748A58-0E43-8311-745B-0AF59867C8D0}"/>
              </a:ext>
            </a:extLst>
          </p:cNvPr>
          <p:cNvSpPr txBox="1"/>
          <p:nvPr/>
        </p:nvSpPr>
        <p:spPr>
          <a:xfrm>
            <a:off x="571500" y="254000"/>
            <a:ext cx="11049000" cy="200055"/>
          </a:xfrm>
          <a:prstGeom prst="rect">
            <a:avLst/>
          </a:prstGeom>
          <a:noFill/>
        </p:spPr>
        <p:txBody>
          <a:bodyPr vert="horz" lIns="0" tIns="0" rtlCol="0">
            <a:spAutoFit/>
          </a:bodyPr>
          <a:lstStyle/>
          <a:p>
            <a:r>
              <a:rPr lang="en-US" sz="1000" b="1">
                <a:solidFill>
                  <a:srgbClr val="2563EB"/>
                </a:solidFill>
                <a:latin typeface="Segoe UI" panose="020B0502040204020203" pitchFamily="34" charset="0"/>
              </a:rPr>
              <a:t>08 | PROJECT SCREENSHOTS AND OUTPUT</a:t>
            </a:r>
            <a:endParaRPr lang="en-IN" sz="1000" b="1">
              <a:solidFill>
                <a:srgbClr val="2563EB"/>
              </a:solidFill>
              <a:latin typeface="Segoe UI" panose="020B0502040204020203" pitchFamily="34" charset="0"/>
            </a:endParaRPr>
          </a:p>
        </p:txBody>
      </p:sp>
      <p:sp>
        <p:nvSpPr>
          <p:cNvPr id="4" name="TextBox 3">
            <a:extLst>
              <a:ext uri="{FF2B5EF4-FFF2-40B4-BE49-F238E27FC236}">
                <a16:creationId xmlns:a16="http://schemas.microsoft.com/office/drawing/2014/main" id="{C3866065-3E57-4E0D-165F-2D0AE0E2D49B}"/>
              </a:ext>
            </a:extLst>
          </p:cNvPr>
          <p:cNvSpPr txBox="1"/>
          <p:nvPr/>
        </p:nvSpPr>
        <p:spPr>
          <a:xfrm>
            <a:off x="571500" y="508000"/>
            <a:ext cx="11049000" cy="384721"/>
          </a:xfrm>
          <a:prstGeom prst="rect">
            <a:avLst/>
          </a:prstGeom>
          <a:noFill/>
        </p:spPr>
        <p:txBody>
          <a:bodyPr vert="horz" lIns="0" tIns="0" rtlCol="0">
            <a:spAutoFit/>
          </a:bodyPr>
          <a:lstStyle/>
          <a:p>
            <a:r>
              <a:rPr lang="en-US" sz="2200" b="1">
                <a:solidFill>
                  <a:srgbClr val="1A365D"/>
                </a:solidFill>
                <a:latin typeface="Segoe UI" panose="020B0502040204020203" pitchFamily="34" charset="0"/>
              </a:rPr>
              <a:t>Live Application Demonstration and Actual Output Screenshots</a:t>
            </a:r>
            <a:endParaRPr lang="en-IN" sz="2200" b="1">
              <a:solidFill>
                <a:srgbClr val="1A365D"/>
              </a:solidFill>
              <a:latin typeface="Segoe UI" panose="020B0502040204020203" pitchFamily="34" charset="0"/>
            </a:endParaRPr>
          </a:p>
        </p:txBody>
      </p:sp>
      <p:sp>
        <p:nvSpPr>
          <p:cNvPr id="5" name="Rectangle 4">
            <a:extLst>
              <a:ext uri="{FF2B5EF4-FFF2-40B4-BE49-F238E27FC236}">
                <a16:creationId xmlns:a16="http://schemas.microsoft.com/office/drawing/2014/main" id="{EEBB2F1D-F8CA-4D13-2500-F69F47CB6BB6}"/>
              </a:ext>
            </a:extLst>
          </p:cNvPr>
          <p:cNvSpPr/>
          <p:nvPr/>
        </p:nvSpPr>
        <p:spPr>
          <a:xfrm>
            <a:off x="571500" y="1117600"/>
            <a:ext cx="11049000" cy="19050"/>
          </a:xfrm>
          <a:prstGeom prst="rect">
            <a:avLst/>
          </a:prstGeom>
          <a:solidFill>
            <a:srgbClr val="CBD5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839058DC-FBCC-A23C-3607-3136926D5430}"/>
              </a:ext>
            </a:extLst>
          </p:cNvPr>
          <p:cNvSpPr txBox="1"/>
          <p:nvPr/>
        </p:nvSpPr>
        <p:spPr>
          <a:xfrm>
            <a:off x="571500" y="6477000"/>
            <a:ext cx="11049000" cy="184666"/>
          </a:xfrm>
          <a:prstGeom prst="rect">
            <a:avLst/>
          </a:prstGeom>
          <a:noFill/>
        </p:spPr>
        <p:txBody>
          <a:bodyPr vert="horz" lIns="0" tIns="0" rtlCol="0">
            <a:spAutoFit/>
          </a:bodyPr>
          <a:lstStyle/>
          <a:p>
            <a:r>
              <a:rPr lang="en-IN" sz="900">
                <a:solidFill>
                  <a:srgbClr val="64748B"/>
                </a:solidFill>
                <a:latin typeface="Segoe UI" panose="020B0502040204020203" pitchFamily="34" charset="0"/>
              </a:rPr>
              <a:t>Student Record Management System  |  College CA2 Project  |  Nirmal Kumar (12201458)</a:t>
            </a:r>
          </a:p>
        </p:txBody>
      </p:sp>
      <p:sp>
        <p:nvSpPr>
          <p:cNvPr id="7" name="Rectangle 6">
            <a:extLst>
              <a:ext uri="{FF2B5EF4-FFF2-40B4-BE49-F238E27FC236}">
                <a16:creationId xmlns:a16="http://schemas.microsoft.com/office/drawing/2014/main" id="{5313C347-6169-E7FB-8748-6C6860CC32F5}"/>
              </a:ext>
            </a:extLst>
          </p:cNvPr>
          <p:cNvSpPr/>
          <p:nvPr/>
        </p:nvSpPr>
        <p:spPr>
          <a:xfrm>
            <a:off x="571500" y="1333500"/>
            <a:ext cx="5334000" cy="32385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112FB1A9-D89C-0FAC-60F8-E5CC8FAE95B9}"/>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596900" y="1358900"/>
            <a:ext cx="5283200" cy="3187700"/>
          </a:xfrm>
          <a:prstGeom prst="rect">
            <a:avLst/>
          </a:prstGeom>
        </p:spPr>
      </p:pic>
      <p:sp>
        <p:nvSpPr>
          <p:cNvPr id="10" name="Rectangle 9">
            <a:extLst>
              <a:ext uri="{FF2B5EF4-FFF2-40B4-BE49-F238E27FC236}">
                <a16:creationId xmlns:a16="http://schemas.microsoft.com/office/drawing/2014/main" id="{ECA9C604-B106-B3A0-39DE-818AF571FF45}"/>
              </a:ext>
            </a:extLst>
          </p:cNvPr>
          <p:cNvSpPr/>
          <p:nvPr/>
        </p:nvSpPr>
        <p:spPr>
          <a:xfrm>
            <a:off x="571500" y="4699000"/>
            <a:ext cx="5334000" cy="1460500"/>
          </a:xfrm>
          <a:prstGeom prst="rect">
            <a:avLst/>
          </a:prstGeom>
          <a:solidFill>
            <a:srgbClr val="F8FAFC"/>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rgbClr val="1E293B"/>
                </a:solidFill>
                <a:latin typeface="Segoe UI" panose="020B0502040204020203" pitchFamily="34" charset="0"/>
              </a:rPr>
              <a:t>Figure 1: Main Dashboard and Student Registry
- Live Analytics: Total Students, Avg CGPA, Highest CGPA, Courses
- MongoDB Connected badge verifying active database status
- Responsive registry table with action buttons and CGPA pills</a:t>
            </a:r>
            <a:endParaRPr lang="en-IN" sz="1000">
              <a:solidFill>
                <a:srgbClr val="1E293B"/>
              </a:solidFill>
              <a:latin typeface="Segoe UI" panose="020B0502040204020203" pitchFamily="34" charset="0"/>
            </a:endParaRPr>
          </a:p>
        </p:txBody>
      </p:sp>
      <p:sp>
        <p:nvSpPr>
          <p:cNvPr id="11" name="Rectangle 10">
            <a:extLst>
              <a:ext uri="{FF2B5EF4-FFF2-40B4-BE49-F238E27FC236}">
                <a16:creationId xmlns:a16="http://schemas.microsoft.com/office/drawing/2014/main" id="{3EE35B13-C14F-41BB-62F5-756DC6F03965}"/>
              </a:ext>
            </a:extLst>
          </p:cNvPr>
          <p:cNvSpPr/>
          <p:nvPr/>
        </p:nvSpPr>
        <p:spPr>
          <a:xfrm>
            <a:off x="6286500" y="1333500"/>
            <a:ext cx="5334000" cy="32385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EA6B0D3E-AE5B-4E04-6229-0AD9F1CE71C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311900" y="1358900"/>
            <a:ext cx="5283200" cy="3187700"/>
          </a:xfrm>
          <a:prstGeom prst="rect">
            <a:avLst/>
          </a:prstGeom>
        </p:spPr>
      </p:pic>
      <p:sp>
        <p:nvSpPr>
          <p:cNvPr id="14" name="Rectangle 13">
            <a:extLst>
              <a:ext uri="{FF2B5EF4-FFF2-40B4-BE49-F238E27FC236}">
                <a16:creationId xmlns:a16="http://schemas.microsoft.com/office/drawing/2014/main" id="{A45DB55B-22A1-0D60-D898-9D0ED21D15CE}"/>
              </a:ext>
            </a:extLst>
          </p:cNvPr>
          <p:cNvSpPr/>
          <p:nvPr/>
        </p:nvSpPr>
        <p:spPr>
          <a:xfrm>
            <a:off x="6286500" y="4699000"/>
            <a:ext cx="5334000" cy="1460500"/>
          </a:xfrm>
          <a:prstGeom prst="rect">
            <a:avLst/>
          </a:prstGeom>
          <a:solidFill>
            <a:srgbClr val="EFF6FF"/>
          </a:solidFill>
          <a:ln>
            <a:solidFill>
              <a:srgbClr val="93C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rgbClr val="0F172A"/>
                </a:solidFill>
                <a:latin typeface="Segoe UI" panose="020B0502040204020203" pitchFamily="34" charset="0"/>
              </a:rPr>
              <a:t>Figure 2: Real-Time Search and Query Operation
- Instant lookup matching Registration Number (2024BCSE001)
- Dynamic record counter badge ('Showing 1 of 6 Records')
- Instant 'Clear Filters' button returning to the full registry</a:t>
            </a:r>
            <a:endParaRPr lang="en-IN" sz="1000">
              <a:solidFill>
                <a:srgbClr val="0F172A"/>
              </a:solidFill>
              <a:latin typeface="Segoe UI" panose="020B0502040204020203" pitchFamily="34" charset="0"/>
            </a:endParaRPr>
          </a:p>
        </p:txBody>
      </p:sp>
    </p:spTree>
    <p:extLst>
      <p:ext uri="{BB962C8B-B14F-4D97-AF65-F5344CB8AC3E}">
        <p14:creationId xmlns:p14="http://schemas.microsoft.com/office/powerpoint/2010/main" val="494961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180490-222B-1732-6E1E-E210B469BC5E}"/>
              </a:ext>
            </a:extLst>
          </p:cNvPr>
          <p:cNvSpPr/>
          <p:nvPr/>
        </p:nvSpPr>
        <p:spPr>
          <a:xfrm>
            <a:off x="0" y="0"/>
            <a:ext cx="12192000" cy="762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2F0095A5-CD08-9D37-40B6-D6F53B851B1D}"/>
              </a:ext>
            </a:extLst>
          </p:cNvPr>
          <p:cNvSpPr txBox="1"/>
          <p:nvPr/>
        </p:nvSpPr>
        <p:spPr>
          <a:xfrm>
            <a:off x="571500" y="254000"/>
            <a:ext cx="11049000" cy="200055"/>
          </a:xfrm>
          <a:prstGeom prst="rect">
            <a:avLst/>
          </a:prstGeom>
          <a:noFill/>
        </p:spPr>
        <p:txBody>
          <a:bodyPr vert="horz" lIns="0" tIns="0" rtlCol="0">
            <a:spAutoFit/>
          </a:bodyPr>
          <a:lstStyle/>
          <a:p>
            <a:r>
              <a:rPr lang="en-IN" sz="1000" b="1">
                <a:solidFill>
                  <a:srgbClr val="2563EB"/>
                </a:solidFill>
                <a:latin typeface="Segoe UI" panose="020B0502040204020203" pitchFamily="34" charset="0"/>
              </a:rPr>
              <a:t>09 | CONCLUSION AND FUTURE SCOPE</a:t>
            </a:r>
          </a:p>
        </p:txBody>
      </p:sp>
      <p:sp>
        <p:nvSpPr>
          <p:cNvPr id="4" name="TextBox 3">
            <a:extLst>
              <a:ext uri="{FF2B5EF4-FFF2-40B4-BE49-F238E27FC236}">
                <a16:creationId xmlns:a16="http://schemas.microsoft.com/office/drawing/2014/main" id="{F77CCD2A-689B-137B-8215-FD9DB4C667EF}"/>
              </a:ext>
            </a:extLst>
          </p:cNvPr>
          <p:cNvSpPr txBox="1"/>
          <p:nvPr/>
        </p:nvSpPr>
        <p:spPr>
          <a:xfrm>
            <a:off x="571500" y="508000"/>
            <a:ext cx="11049000" cy="384721"/>
          </a:xfrm>
          <a:prstGeom prst="rect">
            <a:avLst/>
          </a:prstGeom>
          <a:noFill/>
        </p:spPr>
        <p:txBody>
          <a:bodyPr vert="horz" lIns="0" tIns="0" rtlCol="0">
            <a:spAutoFit/>
          </a:bodyPr>
          <a:lstStyle/>
          <a:p>
            <a:r>
              <a:rPr lang="en-US" sz="2200" b="1">
                <a:solidFill>
                  <a:srgbClr val="1A365D"/>
                </a:solidFill>
                <a:latin typeface="Segoe UI" panose="020B0502040204020203" pitchFamily="34" charset="0"/>
              </a:rPr>
              <a:t>Project Summary and Future Enhancement Roadmap</a:t>
            </a:r>
            <a:endParaRPr lang="en-IN" sz="2200" b="1">
              <a:solidFill>
                <a:srgbClr val="1A365D"/>
              </a:solidFill>
              <a:latin typeface="Segoe UI" panose="020B0502040204020203" pitchFamily="34" charset="0"/>
            </a:endParaRPr>
          </a:p>
        </p:txBody>
      </p:sp>
      <p:sp>
        <p:nvSpPr>
          <p:cNvPr id="5" name="Rectangle 4">
            <a:extLst>
              <a:ext uri="{FF2B5EF4-FFF2-40B4-BE49-F238E27FC236}">
                <a16:creationId xmlns:a16="http://schemas.microsoft.com/office/drawing/2014/main" id="{530549DC-E51F-014C-62D8-154C1684A618}"/>
              </a:ext>
            </a:extLst>
          </p:cNvPr>
          <p:cNvSpPr/>
          <p:nvPr/>
        </p:nvSpPr>
        <p:spPr>
          <a:xfrm>
            <a:off x="571500" y="1117600"/>
            <a:ext cx="11049000" cy="19050"/>
          </a:xfrm>
          <a:prstGeom prst="rect">
            <a:avLst/>
          </a:prstGeom>
          <a:solidFill>
            <a:srgbClr val="CBD5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9EA687AD-B4E3-AA9C-0E96-B872790621AE}"/>
              </a:ext>
            </a:extLst>
          </p:cNvPr>
          <p:cNvSpPr txBox="1"/>
          <p:nvPr/>
        </p:nvSpPr>
        <p:spPr>
          <a:xfrm>
            <a:off x="571500" y="6477000"/>
            <a:ext cx="11049000" cy="184666"/>
          </a:xfrm>
          <a:prstGeom prst="rect">
            <a:avLst/>
          </a:prstGeom>
          <a:noFill/>
        </p:spPr>
        <p:txBody>
          <a:bodyPr vert="horz" lIns="0" tIns="0" rtlCol="0">
            <a:spAutoFit/>
          </a:bodyPr>
          <a:lstStyle/>
          <a:p>
            <a:r>
              <a:rPr lang="en-IN" sz="900">
                <a:solidFill>
                  <a:srgbClr val="64748B"/>
                </a:solidFill>
                <a:latin typeface="Segoe UI" panose="020B0502040204020203" pitchFamily="34" charset="0"/>
              </a:rPr>
              <a:t>Student Record Management System  |  College CA2 Project  |  Nirmal Kumar (12201458)</a:t>
            </a:r>
          </a:p>
        </p:txBody>
      </p:sp>
      <p:sp>
        <p:nvSpPr>
          <p:cNvPr id="7" name="Rectangle 6">
            <a:extLst>
              <a:ext uri="{FF2B5EF4-FFF2-40B4-BE49-F238E27FC236}">
                <a16:creationId xmlns:a16="http://schemas.microsoft.com/office/drawing/2014/main" id="{528CD25A-7A90-921B-604D-F904578E216F}"/>
              </a:ext>
            </a:extLst>
          </p:cNvPr>
          <p:cNvSpPr/>
          <p:nvPr/>
        </p:nvSpPr>
        <p:spPr>
          <a:xfrm>
            <a:off x="571500" y="1333500"/>
            <a:ext cx="5334000" cy="4889500"/>
          </a:xfrm>
          <a:prstGeom prst="rect">
            <a:avLst/>
          </a:prstGeom>
          <a:solidFill>
            <a:srgbClr val="ECFDF5"/>
          </a:solidFill>
          <a:ln w="15240">
            <a:solidFill>
              <a:srgbClr val="A7F3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0367924D-AA33-C316-E385-7A7F940F3E60}"/>
              </a:ext>
            </a:extLst>
          </p:cNvPr>
          <p:cNvSpPr/>
          <p:nvPr/>
        </p:nvSpPr>
        <p:spPr>
          <a:xfrm>
            <a:off x="571500" y="1333500"/>
            <a:ext cx="63500" cy="48895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9B82464E-E07E-B4F3-5B77-F38B40880F95}"/>
              </a:ext>
            </a:extLst>
          </p:cNvPr>
          <p:cNvSpPr txBox="1"/>
          <p:nvPr/>
        </p:nvSpPr>
        <p:spPr>
          <a:xfrm>
            <a:off x="774700" y="1511300"/>
            <a:ext cx="4927600" cy="253916"/>
          </a:xfrm>
          <a:prstGeom prst="rect">
            <a:avLst/>
          </a:prstGeom>
          <a:noFill/>
        </p:spPr>
        <p:txBody>
          <a:bodyPr vert="horz" wrap="square" lIns="0" tIns="0" rtlCol="0">
            <a:spAutoFit/>
          </a:bodyPr>
          <a:lstStyle/>
          <a:p>
            <a:r>
              <a:rPr lang="en-IN" sz="1350" b="1">
                <a:solidFill>
                  <a:srgbClr val="0F172A"/>
                </a:solidFill>
                <a:latin typeface="Segoe UI" panose="020B0502040204020203" pitchFamily="34" charset="0"/>
              </a:rPr>
              <a:t>Project Summary and Achievements</a:t>
            </a:r>
          </a:p>
        </p:txBody>
      </p:sp>
      <p:sp>
        <p:nvSpPr>
          <p:cNvPr id="10" name="TextBox 9">
            <a:extLst>
              <a:ext uri="{FF2B5EF4-FFF2-40B4-BE49-F238E27FC236}">
                <a16:creationId xmlns:a16="http://schemas.microsoft.com/office/drawing/2014/main" id="{77AB74DA-2FB2-1CA8-7B84-46A760F9FC2F}"/>
              </a:ext>
            </a:extLst>
          </p:cNvPr>
          <p:cNvSpPr txBox="1"/>
          <p:nvPr/>
        </p:nvSpPr>
        <p:spPr>
          <a:xfrm>
            <a:off x="774700" y="1892300"/>
            <a:ext cx="4927600" cy="1908215"/>
          </a:xfrm>
          <a:prstGeom prst="rect">
            <a:avLst/>
          </a:prstGeom>
          <a:noFill/>
        </p:spPr>
        <p:txBody>
          <a:bodyPr vert="horz" wrap="square" lIns="0" tIns="0" rtlCol="0">
            <a:spAutoFit/>
          </a:bodyPr>
          <a:lstStyle/>
          <a:p>
            <a:r>
              <a:rPr lang="en-US" sz="1100">
                <a:solidFill>
                  <a:srgbClr val="1E293B"/>
                </a:solidFill>
                <a:latin typeface="Segoe UI" panose="020B0502040204020203" pitchFamily="34" charset="0"/>
              </a:rPr>
              <a:t>[x] Complete CRUD Implementation: Fully functional web application satisfying all college CA2 requirements.
[x] 100% Automated Test Pass: All 7 integration tests verified for route availability, duplicate prevention, and bounds.
[x] Robust Database Architecture: MongoDB NoSQL backend with automatic reconnection, index uniqueness, and schema resilience.
[x] User-Centric Design: Clean academic dashboard featuring live analytics, color-coded grade badges, and intuitive navigation.</a:t>
            </a:r>
            <a:endParaRPr lang="en-IN" sz="1100">
              <a:solidFill>
                <a:srgbClr val="1E293B"/>
              </a:solidFill>
              <a:latin typeface="Segoe UI" panose="020B0502040204020203" pitchFamily="34" charset="0"/>
            </a:endParaRPr>
          </a:p>
        </p:txBody>
      </p:sp>
      <p:sp>
        <p:nvSpPr>
          <p:cNvPr id="11" name="Rectangle 10">
            <a:extLst>
              <a:ext uri="{FF2B5EF4-FFF2-40B4-BE49-F238E27FC236}">
                <a16:creationId xmlns:a16="http://schemas.microsoft.com/office/drawing/2014/main" id="{BBA4A282-08EE-8E6C-B1F6-7F7E24B9ADF6}"/>
              </a:ext>
            </a:extLst>
          </p:cNvPr>
          <p:cNvSpPr/>
          <p:nvPr/>
        </p:nvSpPr>
        <p:spPr>
          <a:xfrm>
            <a:off x="6286500" y="1333500"/>
            <a:ext cx="5334000" cy="4889500"/>
          </a:xfrm>
          <a:prstGeom prst="rect">
            <a:avLst/>
          </a:prstGeom>
          <a:solidFill>
            <a:srgbClr val="EFF6FF"/>
          </a:solidFill>
          <a:ln w="15240">
            <a:solidFill>
              <a:srgbClr val="93C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9EE7EA59-0F5C-C2AA-C023-67144FE5ED65}"/>
              </a:ext>
            </a:extLst>
          </p:cNvPr>
          <p:cNvSpPr/>
          <p:nvPr/>
        </p:nvSpPr>
        <p:spPr>
          <a:xfrm>
            <a:off x="6286500" y="1333500"/>
            <a:ext cx="63500" cy="4889500"/>
          </a:xfrm>
          <a:prstGeom prst="rect">
            <a:avLst/>
          </a:prstGeom>
          <a:solidFill>
            <a:srgbClr val="2563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03B49ADE-1FFE-5218-616E-0CCA18E02E52}"/>
              </a:ext>
            </a:extLst>
          </p:cNvPr>
          <p:cNvSpPr txBox="1"/>
          <p:nvPr/>
        </p:nvSpPr>
        <p:spPr>
          <a:xfrm>
            <a:off x="6489700" y="1511300"/>
            <a:ext cx="4927600" cy="253916"/>
          </a:xfrm>
          <a:prstGeom prst="rect">
            <a:avLst/>
          </a:prstGeom>
          <a:noFill/>
        </p:spPr>
        <p:txBody>
          <a:bodyPr vert="horz" wrap="square" lIns="0" tIns="0" rtlCol="0">
            <a:spAutoFit/>
          </a:bodyPr>
          <a:lstStyle/>
          <a:p>
            <a:r>
              <a:rPr lang="en-IN" sz="1350" b="1">
                <a:solidFill>
                  <a:srgbClr val="0F172A"/>
                </a:solidFill>
                <a:latin typeface="Segoe UI" panose="020B0502040204020203" pitchFamily="34" charset="0"/>
              </a:rPr>
              <a:t>Future Enhancement Roadmap</a:t>
            </a:r>
          </a:p>
        </p:txBody>
      </p:sp>
      <p:sp>
        <p:nvSpPr>
          <p:cNvPr id="14" name="TextBox 13">
            <a:extLst>
              <a:ext uri="{FF2B5EF4-FFF2-40B4-BE49-F238E27FC236}">
                <a16:creationId xmlns:a16="http://schemas.microsoft.com/office/drawing/2014/main" id="{FCE2A09C-8498-083E-6426-7492C1DFFB7F}"/>
              </a:ext>
            </a:extLst>
          </p:cNvPr>
          <p:cNvSpPr txBox="1"/>
          <p:nvPr/>
        </p:nvSpPr>
        <p:spPr>
          <a:xfrm>
            <a:off x="6489700" y="1892300"/>
            <a:ext cx="4927600" cy="1908215"/>
          </a:xfrm>
          <a:prstGeom prst="rect">
            <a:avLst/>
          </a:prstGeom>
          <a:noFill/>
        </p:spPr>
        <p:txBody>
          <a:bodyPr vert="horz" wrap="square" lIns="0" tIns="0" rtlCol="0">
            <a:spAutoFit/>
          </a:bodyPr>
          <a:lstStyle/>
          <a:p>
            <a:r>
              <a:rPr lang="en-US" sz="1100">
                <a:solidFill>
                  <a:srgbClr val="1E293B"/>
                </a:solidFill>
                <a:latin typeface="Segoe UI" panose="020B0502040204020203" pitchFamily="34" charset="0"/>
              </a:rPr>
              <a:t>Role-Based Access Control (RBAC): Dedicated portals and permissions for Administrators, Faculty, and Students.
Automated Marksheet Generation: Exporting semester report cards into downloadable PDF certificates.
Attendance and Fee Tracking: Extending the schema to record class attendance percentages and college tuition clearance.
REST API and Mobile Integration: Exposing JSON endpoints for future cross-platform Android and iOS mobile apps.</a:t>
            </a:r>
            <a:endParaRPr lang="en-IN" sz="1100">
              <a:solidFill>
                <a:srgbClr val="1E293B"/>
              </a:solidFill>
              <a:latin typeface="Segoe UI" panose="020B0502040204020203" pitchFamily="34" charset="0"/>
            </a:endParaRPr>
          </a:p>
        </p:txBody>
      </p:sp>
    </p:spTree>
    <p:extLst>
      <p:ext uri="{BB962C8B-B14F-4D97-AF65-F5344CB8AC3E}">
        <p14:creationId xmlns:p14="http://schemas.microsoft.com/office/powerpoint/2010/main" val="32273356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1842</Words>
  <Application>Microsoft Office PowerPoint</Application>
  <PresentationFormat>Widescreen</PresentationFormat>
  <Paragraphs>88</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nirmal</dc:creator>
  <cp:lastModifiedBy>nirmal</cp:lastModifiedBy>
  <cp:revision>2</cp:revision>
  <dcterms:created xsi:type="dcterms:W3CDTF">2026-10-14T14:38:42Z</dcterms:created>
  <dcterms:modified xsi:type="dcterms:W3CDTF">2026-10-14T14:58:18Z</dcterms:modified>
</cp:coreProperties>
</file>